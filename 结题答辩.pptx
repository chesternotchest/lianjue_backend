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tags/tag36.xml" ContentType="application/vnd.openxmlformats-officedocument.presentationml.tag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8.xml" ContentType="application/vnd.openxmlformats-officedocument.presentationml.notesSlide+xml"/>
  <Override PartName="/ppt/comments/comment5.xml" ContentType="application/vnd.openxmlformats-officedocument.presentationml.comment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1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15"/>
  </p:notesMasterIdLst>
  <p:sldIdLst>
    <p:sldId id="11883" r:id="rId3"/>
    <p:sldId id="11884" r:id="rId4"/>
    <p:sldId id="11886" r:id="rId5"/>
    <p:sldId id="11894" r:id="rId6"/>
    <p:sldId id="11895" r:id="rId7"/>
    <p:sldId id="11896" r:id="rId8"/>
    <p:sldId id="11898" r:id="rId9"/>
    <p:sldId id="11897" r:id="rId10"/>
    <p:sldId id="11901" r:id="rId11"/>
    <p:sldId id="11900" r:id="rId12"/>
    <p:sldId id="11903" r:id="rId13"/>
    <p:sldId id="11892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帐户" initials="M帐" lastIdx="8" clrIdx="0"/>
  <p:cmAuthor id="2" name="恒" initials="authorId_1624394368" lastIdx="3" clrIdx="1"/>
  <p:cmAuthor id="3" name="Chester Wei" initials="CW" lastIdx="19" clrIdx="2">
    <p:extLst>
      <p:ext uri="{19B8F6BF-5375-455C-9EA6-DF929625EA0E}">
        <p15:presenceInfo xmlns:p15="http://schemas.microsoft.com/office/powerpoint/2012/main" userId="Chester We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5"/>
    <a:srgbClr val="FFFFFF"/>
    <a:srgbClr val="E2F2FF"/>
    <a:srgbClr val="FD9D9D"/>
    <a:srgbClr val="5DAAE9"/>
    <a:srgbClr val="AFDC7E"/>
    <a:srgbClr val="2589FE"/>
    <a:srgbClr val="016DBF"/>
    <a:srgbClr val="162F4E"/>
    <a:srgbClr val="007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037" autoAdjust="0"/>
  </p:normalViewPr>
  <p:slideViewPr>
    <p:cSldViewPr snapToGrid="0">
      <p:cViewPr varScale="1">
        <p:scale>
          <a:sx n="88" d="100"/>
          <a:sy n="88" d="100"/>
        </p:scale>
        <p:origin x="4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ers\chest\Desktop\worksapce\deepseek&#21644;&#30693;&#35782;&#22270;&#35889;\&#32467;&#39064;&#31572;&#36777;\RAG&#26816;&#32034;&#36895;&#24230;&#32479;&#3574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AI\Learning-Platform\Lianjue_Backend\scripts\eval_outputs\recall_llm_judge_summary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AI\Learning-Platform\Lianjue_Backend\scripts\eval_outputs\precision_llm_judge_summary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dirty="0"/>
              <a:t>RAG</a:t>
            </a:r>
            <a:r>
              <a:rPr lang="zh-CN" altLang="en-US" sz="1600" dirty="0"/>
              <a:t>检索效率统计 </a:t>
            </a:r>
            <a:r>
              <a:rPr lang="en-US" altLang="zh-CN" sz="1600" dirty="0"/>
              <a:t>(16K</a:t>
            </a:r>
            <a:r>
              <a:rPr lang="zh-CN" altLang="en-US" sz="1600" dirty="0"/>
              <a:t>实体</a:t>
            </a:r>
            <a:r>
              <a:rPr lang="en-US" altLang="zh-CN" sz="1600" dirty="0"/>
              <a:t>)</a:t>
            </a:r>
            <a:endParaRPr lang="zh-CN" altLang="en-US" sz="1600" dirty="0"/>
          </a:p>
        </c:rich>
      </c:tx>
      <c:layout>
        <c:manualLayout>
          <c:xMode val="edge"/>
          <c:yMode val="edge"/>
          <c:x val="0.31726907630522094"/>
          <c:y val="1.64203612479474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retrieval_speed_report!$E$1</c:f>
              <c:strCache>
                <c:ptCount val="1"/>
                <c:pt idx="0">
                  <c:v>embed_avg_ms</c:v>
                </c:pt>
              </c:strCache>
            </c:strRef>
          </c:tx>
          <c:spPr>
            <a:solidFill>
              <a:srgbClr val="FD9D9D"/>
            </a:solidFill>
            <a:ln w="9525">
              <a:solidFill>
                <a:schemeClr val="tx1"/>
              </a:solidFill>
            </a:ln>
            <a:effectLst/>
          </c:spPr>
          <c:invertIfNegative val="0"/>
          <c:val>
            <c:numRef>
              <c:f>retrieval_speed_report!$E$2:$E$51</c:f>
              <c:numCache>
                <c:formatCode>General</c:formatCode>
                <c:ptCount val="50"/>
                <c:pt idx="0">
                  <c:v>171.92099999999999</c:v>
                </c:pt>
                <c:pt idx="1">
                  <c:v>155.239</c:v>
                </c:pt>
                <c:pt idx="2">
                  <c:v>208.94399999999999</c:v>
                </c:pt>
                <c:pt idx="3">
                  <c:v>270.97000000000003</c:v>
                </c:pt>
                <c:pt idx="4">
                  <c:v>234.12899999999999</c:v>
                </c:pt>
                <c:pt idx="5">
                  <c:v>168.167</c:v>
                </c:pt>
                <c:pt idx="6">
                  <c:v>197.90299999999999</c:v>
                </c:pt>
                <c:pt idx="7">
                  <c:v>346.858</c:v>
                </c:pt>
                <c:pt idx="8">
                  <c:v>302.94499999999999</c:v>
                </c:pt>
                <c:pt idx="9">
                  <c:v>203.99199999999999</c:v>
                </c:pt>
                <c:pt idx="10">
                  <c:v>174.48500000000001</c:v>
                </c:pt>
                <c:pt idx="11">
                  <c:v>158.44200000000001</c:v>
                </c:pt>
                <c:pt idx="12">
                  <c:v>363.11799999999999</c:v>
                </c:pt>
                <c:pt idx="13">
                  <c:v>175.62</c:v>
                </c:pt>
                <c:pt idx="14">
                  <c:v>248.20699999999999</c:v>
                </c:pt>
                <c:pt idx="15">
                  <c:v>182.702</c:v>
                </c:pt>
                <c:pt idx="16">
                  <c:v>267.03500000000003</c:v>
                </c:pt>
                <c:pt idx="17">
                  <c:v>178.59800000000001</c:v>
                </c:pt>
                <c:pt idx="18">
                  <c:v>169.29</c:v>
                </c:pt>
                <c:pt idx="19">
                  <c:v>300.108</c:v>
                </c:pt>
                <c:pt idx="20">
                  <c:v>186.499</c:v>
                </c:pt>
                <c:pt idx="21">
                  <c:v>252.553</c:v>
                </c:pt>
                <c:pt idx="22">
                  <c:v>185.12299999999999</c:v>
                </c:pt>
                <c:pt idx="23">
                  <c:v>184.45400000000001</c:v>
                </c:pt>
                <c:pt idx="24">
                  <c:v>407.714</c:v>
                </c:pt>
                <c:pt idx="25">
                  <c:v>442.39299999999997</c:v>
                </c:pt>
                <c:pt idx="26">
                  <c:v>423.65499999999997</c:v>
                </c:pt>
                <c:pt idx="27">
                  <c:v>229.73099999999999</c:v>
                </c:pt>
                <c:pt idx="28">
                  <c:v>960.78499999999997</c:v>
                </c:pt>
                <c:pt idx="29">
                  <c:v>396.928</c:v>
                </c:pt>
                <c:pt idx="30">
                  <c:v>241.95099999999999</c:v>
                </c:pt>
                <c:pt idx="31">
                  <c:v>185.70099999999999</c:v>
                </c:pt>
                <c:pt idx="32">
                  <c:v>221.07900000000001</c:v>
                </c:pt>
                <c:pt idx="33">
                  <c:v>169.02</c:v>
                </c:pt>
                <c:pt idx="34">
                  <c:v>585.97400000000005</c:v>
                </c:pt>
                <c:pt idx="35">
                  <c:v>168.96799999999999</c:v>
                </c:pt>
                <c:pt idx="36">
                  <c:v>253.054</c:v>
                </c:pt>
                <c:pt idx="37">
                  <c:v>318.90199999999999</c:v>
                </c:pt>
                <c:pt idx="38">
                  <c:v>551.84799999999996</c:v>
                </c:pt>
                <c:pt idx="39">
                  <c:v>229.37299999999999</c:v>
                </c:pt>
                <c:pt idx="40">
                  <c:v>244.767</c:v>
                </c:pt>
                <c:pt idx="41">
                  <c:v>177.76599999999999</c:v>
                </c:pt>
                <c:pt idx="42">
                  <c:v>168.131</c:v>
                </c:pt>
                <c:pt idx="43">
                  <c:v>168.96100000000001</c:v>
                </c:pt>
                <c:pt idx="44">
                  <c:v>275.92599999999999</c:v>
                </c:pt>
                <c:pt idx="45">
                  <c:v>166.911</c:v>
                </c:pt>
                <c:pt idx="46">
                  <c:v>179.52699999999999</c:v>
                </c:pt>
                <c:pt idx="47">
                  <c:v>171.61799999999999</c:v>
                </c:pt>
                <c:pt idx="48">
                  <c:v>164.346</c:v>
                </c:pt>
                <c:pt idx="49">
                  <c:v>151.16800000000001</c:v>
                </c:pt>
              </c:numCache>
            </c:numRef>
          </c:val>
        </c:ser>
        <c:ser>
          <c:idx val="1"/>
          <c:order val="1"/>
          <c:tx>
            <c:strRef>
              <c:f>retrieval_speed_report!$H$1</c:f>
              <c:strCache>
                <c:ptCount val="1"/>
                <c:pt idx="0">
                  <c:v>retrieval_only_avg_ms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val>
            <c:numRef>
              <c:f>retrieval_speed_report!$H$2:$H$51</c:f>
              <c:numCache>
                <c:formatCode>General</c:formatCode>
                <c:ptCount val="50"/>
                <c:pt idx="0">
                  <c:v>3131.3980000000001</c:v>
                </c:pt>
                <c:pt idx="1">
                  <c:v>3195.2350000000001</c:v>
                </c:pt>
                <c:pt idx="2">
                  <c:v>3191.1060000000002</c:v>
                </c:pt>
                <c:pt idx="3">
                  <c:v>3198.9639999999999</c:v>
                </c:pt>
                <c:pt idx="4">
                  <c:v>3149.5729999999999</c:v>
                </c:pt>
                <c:pt idx="5">
                  <c:v>3154.518</c:v>
                </c:pt>
                <c:pt idx="6">
                  <c:v>3170.0390000000002</c:v>
                </c:pt>
                <c:pt idx="7">
                  <c:v>3492.22</c:v>
                </c:pt>
                <c:pt idx="8">
                  <c:v>2997.373</c:v>
                </c:pt>
                <c:pt idx="9">
                  <c:v>3060.9780000000001</c:v>
                </c:pt>
                <c:pt idx="10">
                  <c:v>2956.0929999999998</c:v>
                </c:pt>
                <c:pt idx="11">
                  <c:v>3076.6030000000001</c:v>
                </c:pt>
                <c:pt idx="12">
                  <c:v>3113.1309999999999</c:v>
                </c:pt>
                <c:pt idx="13">
                  <c:v>3011.518</c:v>
                </c:pt>
                <c:pt idx="14">
                  <c:v>3149.2730000000001</c:v>
                </c:pt>
                <c:pt idx="15">
                  <c:v>3068.5509999999999</c:v>
                </c:pt>
                <c:pt idx="16">
                  <c:v>3504.4830000000002</c:v>
                </c:pt>
                <c:pt idx="17">
                  <c:v>2984.0030000000002</c:v>
                </c:pt>
                <c:pt idx="18">
                  <c:v>3098.6</c:v>
                </c:pt>
                <c:pt idx="19">
                  <c:v>3172.5439999999999</c:v>
                </c:pt>
                <c:pt idx="20">
                  <c:v>3002.8760000000002</c:v>
                </c:pt>
                <c:pt idx="21">
                  <c:v>3084.9409999999998</c:v>
                </c:pt>
                <c:pt idx="22">
                  <c:v>3171.107</c:v>
                </c:pt>
                <c:pt idx="23">
                  <c:v>3101.4459999999999</c:v>
                </c:pt>
                <c:pt idx="24">
                  <c:v>3070.7240000000002</c:v>
                </c:pt>
                <c:pt idx="25">
                  <c:v>3054.6030000000001</c:v>
                </c:pt>
                <c:pt idx="26">
                  <c:v>3101.7040000000002</c:v>
                </c:pt>
                <c:pt idx="27">
                  <c:v>3169.2640000000001</c:v>
                </c:pt>
                <c:pt idx="28">
                  <c:v>3201.2849999999999</c:v>
                </c:pt>
                <c:pt idx="29">
                  <c:v>3127.6280000000002</c:v>
                </c:pt>
                <c:pt idx="30">
                  <c:v>3573.3139999999999</c:v>
                </c:pt>
                <c:pt idx="31">
                  <c:v>3027.98</c:v>
                </c:pt>
                <c:pt idx="32">
                  <c:v>3155.9690000000001</c:v>
                </c:pt>
                <c:pt idx="33">
                  <c:v>3101.348</c:v>
                </c:pt>
                <c:pt idx="34">
                  <c:v>3130.306</c:v>
                </c:pt>
                <c:pt idx="35">
                  <c:v>3056.0239999999999</c:v>
                </c:pt>
                <c:pt idx="36">
                  <c:v>3100.0120000000002</c:v>
                </c:pt>
                <c:pt idx="37">
                  <c:v>3046.6179999999999</c:v>
                </c:pt>
                <c:pt idx="38">
                  <c:v>3123.94</c:v>
                </c:pt>
                <c:pt idx="39">
                  <c:v>3215.68</c:v>
                </c:pt>
                <c:pt idx="40">
                  <c:v>3055.0720000000001</c:v>
                </c:pt>
                <c:pt idx="41">
                  <c:v>3065.3319999999999</c:v>
                </c:pt>
                <c:pt idx="42">
                  <c:v>3258.5160000000001</c:v>
                </c:pt>
                <c:pt idx="43">
                  <c:v>3221.2150000000001</c:v>
                </c:pt>
                <c:pt idx="44">
                  <c:v>3235.8040000000001</c:v>
                </c:pt>
                <c:pt idx="45">
                  <c:v>3101.3719999999998</c:v>
                </c:pt>
                <c:pt idx="46">
                  <c:v>3214.6030000000001</c:v>
                </c:pt>
                <c:pt idx="47">
                  <c:v>3198.52</c:v>
                </c:pt>
                <c:pt idx="48">
                  <c:v>3266.3139999999999</c:v>
                </c:pt>
                <c:pt idx="49">
                  <c:v>3077.1390000000001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1753252272"/>
        <c:axId val="319549536"/>
      </c:barChart>
      <c:catAx>
        <c:axId val="1753252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sz="1100" dirty="0" smtClean="0"/>
                  <a:t>测试用例</a:t>
                </a:r>
                <a:endParaRPr lang="zh-CN" altLang="en-US" sz="11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49536"/>
        <c:crosses val="autoZero"/>
        <c:auto val="1"/>
        <c:lblAlgn val="ctr"/>
        <c:lblOffset val="100"/>
        <c:noMultiLvlLbl val="0"/>
      </c:catAx>
      <c:valAx>
        <c:axId val="319549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 algn="ctr" rtl="0">
                  <a:defRPr lang="zh-CN" altLang="en-US" sz="1100" b="0" i="0" u="none" strike="noStrike" kern="1200" baseline="0" dirty="0" smtClean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sz="1100" b="0" i="0" u="none" strike="noStrike" kern="1200" baseline="0" dirty="0" smtClean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+mn-lt"/>
                    <a:ea typeface="+mn-ea"/>
                    <a:cs typeface="+mn-cs"/>
                  </a:rPr>
                  <a:t>耗时(ms)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 algn="ctr" rtl="0">
                <a:defRPr lang="zh-CN" altLang="en-US" sz="1100" b="0" i="0" u="none" strike="noStrike" kern="1200" baseline="0" dirty="0" smtClean="0">
                  <a:solidFill>
                    <a:srgbClr val="000000">
                      <a:lumMod val="65000"/>
                      <a:lumOff val="3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325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701135249660055"/>
          <c:y val="0.88523944131622634"/>
          <c:w val="0.45910661325812879"/>
          <c:h val="9.50559416357844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召回率</a:t>
            </a:r>
          </a:p>
        </c:rich>
      </c:tx>
      <c:layout>
        <c:manualLayout>
          <c:xMode val="edge"/>
          <c:yMode val="edge"/>
          <c:x val="0.44090468139154493"/>
          <c:y val="3.10583119807438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recall_llm_judge_summary!$B$1</c:f>
              <c:strCache>
                <c:ptCount val="1"/>
                <c:pt idx="0">
                  <c:v>hit_count</c:v>
                </c:pt>
              </c:strCache>
            </c:strRef>
          </c:tx>
          <c:spPr>
            <a:solidFill>
              <a:srgbClr val="5DAAE9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recall_llm_judge_summary!$A$2:$A$4</c:f>
              <c:strCache>
                <c:ptCount val="3"/>
                <c:pt idx="0">
                  <c:v>TOP1</c:v>
                </c:pt>
                <c:pt idx="1">
                  <c:v>TOP3</c:v>
                </c:pt>
                <c:pt idx="2">
                  <c:v>TOP5</c:v>
                </c:pt>
              </c:strCache>
            </c:strRef>
          </c:cat>
          <c:val>
            <c:numRef>
              <c:f>recall_llm_judge_summary!$B$2:$B$4</c:f>
              <c:numCache>
                <c:formatCode>General</c:formatCode>
                <c:ptCount val="3"/>
                <c:pt idx="0">
                  <c:v>31</c:v>
                </c:pt>
                <c:pt idx="1">
                  <c:v>44</c:v>
                </c:pt>
                <c:pt idx="2">
                  <c:v>48</c:v>
                </c:pt>
              </c:numCache>
            </c:numRef>
          </c:val>
        </c:ser>
        <c:ser>
          <c:idx val="1"/>
          <c:order val="1"/>
          <c:tx>
            <c:strRef>
              <c:f>recall_llm_judge_summary!$C$1</c:f>
              <c:strCache>
                <c:ptCount val="1"/>
                <c:pt idx="0">
                  <c:v>miss_count</c:v>
                </c:pt>
              </c:strCache>
            </c:strRef>
          </c:tx>
          <c:spPr>
            <a:solidFill>
              <a:srgbClr val="FD9D9D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recall_llm_judge_summary!$A$2:$A$4</c:f>
              <c:strCache>
                <c:ptCount val="3"/>
                <c:pt idx="0">
                  <c:v>TOP1</c:v>
                </c:pt>
                <c:pt idx="1">
                  <c:v>TOP3</c:v>
                </c:pt>
                <c:pt idx="2">
                  <c:v>TOP5</c:v>
                </c:pt>
              </c:strCache>
            </c:strRef>
          </c:cat>
          <c:val>
            <c:numRef>
              <c:f>recall_llm_judge_summary!$C$2:$C$4</c:f>
              <c:numCache>
                <c:formatCode>General</c:formatCode>
                <c:ptCount val="3"/>
                <c:pt idx="0">
                  <c:v>19</c:v>
                </c:pt>
                <c:pt idx="1">
                  <c:v>6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strRef>
              <c:f>recall_llm_judge_summary!$D$1</c:f>
              <c:strCache>
                <c:ptCount val="1"/>
                <c:pt idx="0">
                  <c:v>dirty_count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recall_llm_judge_summary!$A$2:$A$4</c:f>
              <c:strCache>
                <c:ptCount val="3"/>
                <c:pt idx="0">
                  <c:v>TOP1</c:v>
                </c:pt>
                <c:pt idx="1">
                  <c:v>TOP3</c:v>
                </c:pt>
                <c:pt idx="2">
                  <c:v>TOP5</c:v>
                </c:pt>
              </c:strCache>
            </c:strRef>
          </c:cat>
          <c:val>
            <c:numRef>
              <c:f>recall_llm_judge_summary!$D$2:$D$4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9550080"/>
        <c:axId val="319554432"/>
      </c:barChart>
      <c:lineChart>
        <c:grouping val="standard"/>
        <c:varyColors val="0"/>
        <c:ser>
          <c:idx val="3"/>
          <c:order val="3"/>
          <c:tx>
            <c:strRef>
              <c:f>recall_llm_judge_summary!$E$1</c:f>
              <c:strCache>
                <c:ptCount val="1"/>
                <c:pt idx="0">
                  <c:v>hit_rate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recall_llm_judge_summary!$A$2:$A$4</c:f>
              <c:strCache>
                <c:ptCount val="3"/>
                <c:pt idx="0">
                  <c:v>TOP1</c:v>
                </c:pt>
                <c:pt idx="1">
                  <c:v>TOP3</c:v>
                </c:pt>
                <c:pt idx="2">
                  <c:v>TOP5</c:v>
                </c:pt>
              </c:strCache>
            </c:strRef>
          </c:cat>
          <c:val>
            <c:numRef>
              <c:f>recall_llm_judge_summary!$E$2:$E$4</c:f>
              <c:numCache>
                <c:formatCode>General</c:formatCode>
                <c:ptCount val="3"/>
                <c:pt idx="0">
                  <c:v>0.62</c:v>
                </c:pt>
                <c:pt idx="1">
                  <c:v>0.88</c:v>
                </c:pt>
                <c:pt idx="2">
                  <c:v>0.96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9547904"/>
        <c:axId val="319547360"/>
      </c:lineChart>
      <c:catAx>
        <c:axId val="3195500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dirty="0" smtClean="0"/>
                  <a:t>Top-K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54432"/>
        <c:crosses val="autoZero"/>
        <c:auto val="1"/>
        <c:lblAlgn val="ctr"/>
        <c:lblOffset val="100"/>
        <c:noMultiLvlLbl val="0"/>
      </c:catAx>
      <c:valAx>
        <c:axId val="319554432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 smtClean="0"/>
                  <a:t>数量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个</a:t>
                </a:r>
                <a:r>
                  <a:rPr lang="en-US" altLang="zh-CN" dirty="0" smtClean="0"/>
                  <a:t>)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50080"/>
        <c:crosses val="autoZero"/>
        <c:crossBetween val="between"/>
      </c:valAx>
      <c:valAx>
        <c:axId val="319547360"/>
        <c:scaling>
          <c:orientation val="minMax"/>
          <c:max val="1"/>
        </c:scaling>
        <c:delete val="0"/>
        <c:axPos val="r"/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 smtClean="0"/>
                  <a:t>召回率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47904"/>
        <c:crosses val="max"/>
        <c:crossBetween val="between"/>
      </c:valAx>
      <c:catAx>
        <c:axId val="3195479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195473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 smtClean="0"/>
              <a:t>准确度</a:t>
            </a:r>
            <a:endParaRPr lang="zh-CN" altLang="en-US" dirty="0"/>
          </a:p>
        </c:rich>
      </c:tx>
      <c:layout>
        <c:manualLayout>
          <c:xMode val="edge"/>
          <c:yMode val="edge"/>
          <c:x val="0.43883002581858355"/>
          <c:y val="5.22875816993464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2679855643044619"/>
          <c:y val="0.18039370078740158"/>
          <c:w val="0.7209026684164479"/>
          <c:h val="0.5438367599883348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precision_llm_judge_summary!$B$1</c:f>
              <c:strCache>
                <c:ptCount val="1"/>
                <c:pt idx="0">
                  <c:v>correct_count</c:v>
                </c:pt>
              </c:strCache>
            </c:strRef>
          </c:tx>
          <c:spPr>
            <a:solidFill>
              <a:srgbClr val="5DAAE9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precision_llm_judge_summary!$A$2:$A$3</c:f>
              <c:strCache>
                <c:ptCount val="2"/>
                <c:pt idx="0">
                  <c:v>TOP1</c:v>
                </c:pt>
                <c:pt idx="1">
                  <c:v>TOP3</c:v>
                </c:pt>
              </c:strCache>
            </c:strRef>
          </c:cat>
          <c:val>
            <c:numRef>
              <c:f>precision_llm_judge_summary!$B$2:$B$3</c:f>
              <c:numCache>
                <c:formatCode>General</c:formatCode>
                <c:ptCount val="2"/>
                <c:pt idx="0">
                  <c:v>39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precision_llm_judge_summary!$C$1</c:f>
              <c:strCache>
                <c:ptCount val="1"/>
                <c:pt idx="0">
                  <c:v>incorrect_count</c:v>
                </c:pt>
              </c:strCache>
            </c:strRef>
          </c:tx>
          <c:spPr>
            <a:solidFill>
              <a:srgbClr val="FD9D9D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precision_llm_judge_summary!$A$2:$A$3</c:f>
              <c:strCache>
                <c:ptCount val="2"/>
                <c:pt idx="0">
                  <c:v>TOP1</c:v>
                </c:pt>
                <c:pt idx="1">
                  <c:v>TOP3</c:v>
                </c:pt>
              </c:strCache>
            </c:strRef>
          </c:cat>
          <c:val>
            <c:numRef>
              <c:f>precision_llm_judge_summary!$C$2:$C$3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ser>
          <c:idx val="2"/>
          <c:order val="2"/>
          <c:tx>
            <c:strRef>
              <c:f>precision_llm_judge_summary!$D$1</c:f>
              <c:strCache>
                <c:ptCount val="1"/>
                <c:pt idx="0">
                  <c:v>dirty_count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precision_llm_judge_summary!$A$2:$A$3</c:f>
              <c:strCache>
                <c:ptCount val="2"/>
                <c:pt idx="0">
                  <c:v>TOP1</c:v>
                </c:pt>
                <c:pt idx="1">
                  <c:v>TOP3</c:v>
                </c:pt>
              </c:strCache>
            </c:strRef>
          </c:cat>
          <c:val>
            <c:numRef>
              <c:f>precision_llm_judge_summary!$D$2:$D$3</c:f>
              <c:numCache>
                <c:formatCode>General</c:formatCode>
                <c:ptCount val="2"/>
                <c:pt idx="0">
                  <c:v>10</c:v>
                </c:pt>
                <c:pt idx="1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9548448"/>
        <c:axId val="319552256"/>
      </c:barChart>
      <c:lineChart>
        <c:grouping val="standard"/>
        <c:varyColors val="0"/>
        <c:ser>
          <c:idx val="3"/>
          <c:order val="3"/>
          <c:tx>
            <c:strRef>
              <c:f>precision_llm_judge_summary!$E$1</c:f>
              <c:strCache>
                <c:ptCount val="1"/>
                <c:pt idx="0">
                  <c:v>accuracy_rate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precision_llm_judge_summary!$A$2:$A$3</c:f>
              <c:strCache>
                <c:ptCount val="2"/>
                <c:pt idx="0">
                  <c:v>TOP1</c:v>
                </c:pt>
                <c:pt idx="1">
                  <c:v>TOP3</c:v>
                </c:pt>
              </c:strCache>
            </c:strRef>
          </c:cat>
          <c:val>
            <c:numRef>
              <c:f>precision_llm_judge_summary!$E$2:$E$3</c:f>
              <c:numCache>
                <c:formatCode>0.00_);[Red]\(0.00\)</c:formatCode>
                <c:ptCount val="2"/>
                <c:pt idx="0">
                  <c:v>0.97499999999999998</c:v>
                </c:pt>
                <c:pt idx="1">
                  <c:v>0.93020000000000003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9553344"/>
        <c:axId val="319552800"/>
      </c:lineChart>
      <c:catAx>
        <c:axId val="3195484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dirty="0" smtClean="0"/>
                  <a:t>Top-K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52256"/>
        <c:crosses val="autoZero"/>
        <c:auto val="1"/>
        <c:lblAlgn val="ctr"/>
        <c:lblOffset val="100"/>
        <c:noMultiLvlLbl val="0"/>
      </c:catAx>
      <c:valAx>
        <c:axId val="319552256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 smtClean="0"/>
                  <a:t>数量</a:t>
                </a:r>
                <a:r>
                  <a:rPr lang="en-US" altLang="zh-CN" dirty="0" smtClean="0"/>
                  <a:t>(</a:t>
                </a:r>
                <a:r>
                  <a:rPr lang="zh-CN" altLang="en-US" dirty="0" smtClean="0"/>
                  <a:t>个</a:t>
                </a:r>
                <a:r>
                  <a:rPr lang="en-US" altLang="zh-CN" dirty="0" smtClean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48448"/>
        <c:crosses val="autoZero"/>
        <c:crossBetween val="between"/>
      </c:valAx>
      <c:valAx>
        <c:axId val="319552800"/>
        <c:scaling>
          <c:orientation val="minMax"/>
          <c:max val="1"/>
          <c:min val="0"/>
        </c:scaling>
        <c:delete val="0"/>
        <c:axPos val="r"/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dirty="0" smtClean="0"/>
                  <a:t>准确率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553344"/>
        <c:crosses val="max"/>
        <c:crossBetween val="between"/>
      </c:valAx>
      <c:catAx>
        <c:axId val="31955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195528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3-25T22:50:23.799" idx="18">
    <p:pos x="146" y="146"/>
    <p:text>图不错，不过移到目标那一栏。</p:text>
    <p:extLst>
      <p:ext uri="{C676402C-5697-4E1C-873F-D02D1690AC5C}">
        <p15:threadingInfo xmlns:p15="http://schemas.microsoft.com/office/powerpoint/2012/main" timeZoneBias="-480"/>
      </p:ext>
    </p:extLst>
  </p:cm>
  <p:cm authorId="3" dt="2026-03-25T22:50:46.985" idx="19">
    <p:pos x="10" y="10"/>
    <p:text>我会把背景整理成一张图。先等待。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21T23:19:25.142" idx="1">
    <p:pos x="7123" y="1042"/>
    <p:text>前端：React
大模型：调用云端LLM
检索：证据-路径五路融合检索
图数据库：AbutionGraph（打错字了）
后端：Flask</p:text>
  </p:cm>
  <p:cm authorId="2" dt="2026-03-22T20:39:29.943" idx="2">
    <p:pos x="10" y="10"/>
    <p:text>OKOK</p:text>
    <p:extLst>
      <p:ext uri="{C676402C-5697-4E1C-873F-D02D1690AC5C}">
        <p15:threadingInfo xmlns:p15="http://schemas.microsoft.com/office/powerpoint/2012/main" timeZoneBias="-480">
          <p15:parentCm authorId="1" idx="1"/>
        </p15:threadingInfo>
      </p:ext>
    </p:extLst>
  </p:cm>
  <p:cm authorId="1" dt="2026-03-21T23:21:25.196" idx="2">
    <p:pos x="10" y="10"/>
    <p:text>左侧的架构图：
图谱与搜索层其实是同一个数据库，这样写容易歧义。
可以中央用一个圆柱体，文字是：时序-语义动态超图</p:text>
  </p:cm>
  <p:cm authorId="2" dt="2026-03-22T20:39:35.842" idx="3">
    <p:pos x="10" y="10"/>
    <p:text>OKOK</p:text>
    <p:extLst>
      <p:ext uri="{C676402C-5697-4E1C-873F-D02D1690AC5C}">
        <p15:threadingInfo xmlns:p15="http://schemas.microsoft.com/office/powerpoint/2012/main" timeZoneBias="-480">
          <p15:parentCm authorId="1" idx="2"/>
        </p15:threadingInfo>
      </p:ext>
    </p:extLst>
  </p:cm>
  <p:cm authorId="3" dt="2026-03-23T01:10:30.607" idx="3">
    <p:pos x="146" y="146"/>
    <p:text>豪看豪看。保留吧！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21T23:22:45.522" idx="3">
    <p:pos x="40" y="22"/>
    <p:text>图可以稍微放大</p:text>
  </p:cm>
  <p:cm authorId="2" dt="2026-03-22T10:59:26.187" idx="1">
    <p:pos x="10" y="10"/>
    <p:text>放大了一些</p:text>
    <p:extLst>
      <p:ext uri="{C676402C-5697-4E1C-873F-D02D1690AC5C}">
        <p15:threadingInfo xmlns:p15="http://schemas.microsoft.com/office/powerpoint/2012/main" timeZoneBias="-480">
          <p15:parentCm authorId="1" idx="3"/>
        </p15:threadingInfo>
      </p:ext>
    </p:extLst>
  </p:cm>
  <p:cm authorId="3" dt="2026-03-23T01:10:52.334" idx="4">
    <p:pos x="10" y="10"/>
    <p:text>赞同，到时候补截图吧。
这一页先暂时搁置。
TODO</p:text>
    <p:extLst mod="1">
      <p:ext uri="{C676402C-5697-4E1C-873F-D02D1690AC5C}">
        <p15:threadingInfo xmlns:p15="http://schemas.microsoft.com/office/powerpoint/2012/main" timeZoneBias="-480"/>
      </p:ext>
    </p:extLst>
  </p:cm>
  <p:cm authorId="3" dt="2026-03-25T22:48:11.600" idx="16">
    <p:pos x="146" y="146"/>
    <p:text>大图可以先开始美化了。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3-23T01:09:59.758" idx="2">
    <p:pos x="282" y="282"/>
    <p:text>这个部分现在看起来还蛮不错的w
保留吧！</p:text>
    <p:extLst>
      <p:ext uri="{C676402C-5697-4E1C-873F-D02D1690AC5C}">
        <p15:threadingInfo xmlns:p15="http://schemas.microsoft.com/office/powerpoint/2012/main" timeZoneBias="-480"/>
      </p:ext>
    </p:extLst>
  </p:cm>
  <p:cm authorId="3" dt="2026-03-25T22:47:51.079" idx="14">
    <p:pos x="10" y="10"/>
    <p:text>可以开始美化了。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3-22T22:03:03.342" idx="1">
    <p:pos x="10" y="10"/>
    <p:text>背后的文字被我用图取代了。
我有点想模仿这个美化下前面的（主要是加个这种圆矩形嵌套，不过可以之后再做TODO）</p:text>
    <p:extLst mod="1">
      <p:ext uri="{C676402C-5697-4E1C-873F-D02D1690AC5C}">
        <p15:threadingInfo xmlns:p15="http://schemas.microsoft.com/office/powerpoint/2012/main" timeZoneBias="-480"/>
      </p:ext>
    </p:extLst>
  </p:cm>
  <p:cm authorId="3" dt="2026-03-23T01:14:02.097" idx="7">
    <p:pos x="146" y="146"/>
    <p:text>之前的两个图放在了下面。感觉可以放到技术那边。
可以先存一下，不过大概率要改。</p:text>
    <p:extLst mod="1"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29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9228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暂时先这样</a:t>
            </a:r>
            <a:r>
              <a:rPr lang="en-US" altLang="zh-CN"/>
              <a:t>。</a:t>
            </a:r>
            <a:r>
              <a:rPr lang="zh-CN" altLang="en-US"/>
              <a:t>会有改动</a:t>
            </a:r>
            <a:r>
              <a:rPr lang="en-US" altLang="zh-CN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6725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5752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重画了</a:t>
            </a:r>
            <a:r>
              <a:rPr lang="en-US" altLang="zh-CN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57359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1559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2488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2571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 smtClean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3394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824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7091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未完待续</a:t>
            </a:r>
          </a:p>
        </p:txBody>
      </p:sp>
    </p:spTree>
    <p:extLst>
      <p:ext uri="{BB962C8B-B14F-4D97-AF65-F5344CB8AC3E}">
        <p14:creationId xmlns:p14="http://schemas.microsoft.com/office/powerpoint/2010/main" val="74997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0CA4-2368-4D59-8FBB-2D65A51BC43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2D1B2-A81C-44B8-9F41-403C7D1553C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5"/>
          <p:cNvSpPr txBox="1"/>
          <p:nvPr userDrawn="1"/>
        </p:nvSpPr>
        <p:spPr>
          <a:xfrm>
            <a:off x="660400" y="345937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703881"/>
                </a:solidFill>
              </a:rPr>
              <a:t>输入标题</a:t>
            </a:r>
          </a:p>
        </p:txBody>
      </p:sp>
      <p:grpSp>
        <p:nvGrpSpPr>
          <p:cNvPr id="17" name="组合 16"/>
          <p:cNvGrpSpPr>
            <a:grpSpLocks noChangeAspect="1"/>
          </p:cNvGrpSpPr>
          <p:nvPr userDrawn="1"/>
        </p:nvGrpSpPr>
        <p:grpSpPr>
          <a:xfrm>
            <a:off x="9915416" y="511722"/>
            <a:ext cx="1561684" cy="469972"/>
            <a:chOff x="2685028" y="2876682"/>
            <a:chExt cx="5502784" cy="1656004"/>
          </a:xfrm>
        </p:grpSpPr>
        <p:sp>
          <p:nvSpPr>
            <p:cNvPr id="18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/>
                <a:ea typeface="微软雅黑 Light" panose="020B0502040204020203" charset="-122"/>
              </a:endParaRPr>
            </a:p>
          </p:txBody>
        </p:sp>
        <p:sp>
          <p:nvSpPr>
            <p:cNvPr id="19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/>
                <a:ea typeface="微软雅黑 Light" panose="020B0502040204020203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0CA4-2368-4D59-8FBB-2D65A51BC43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2D1B2-A81C-44B8-9F41-403C7D1553C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5"/>
          <p:cNvSpPr txBox="1"/>
          <p:nvPr userDrawn="1"/>
        </p:nvSpPr>
        <p:spPr>
          <a:xfrm>
            <a:off x="660400" y="345937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703881"/>
                </a:solidFill>
              </a:rPr>
              <a:t>输入标题</a:t>
            </a:r>
          </a:p>
        </p:txBody>
      </p:sp>
      <p:grpSp>
        <p:nvGrpSpPr>
          <p:cNvPr id="17" name="组合 16"/>
          <p:cNvGrpSpPr>
            <a:grpSpLocks noChangeAspect="1"/>
          </p:cNvGrpSpPr>
          <p:nvPr userDrawn="1"/>
        </p:nvGrpSpPr>
        <p:grpSpPr>
          <a:xfrm>
            <a:off x="9915416" y="511722"/>
            <a:ext cx="1561684" cy="469972"/>
            <a:chOff x="2685028" y="2876682"/>
            <a:chExt cx="5502784" cy="1656004"/>
          </a:xfrm>
        </p:grpSpPr>
        <p:sp>
          <p:nvSpPr>
            <p:cNvPr id="18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/>
                <a:ea typeface="微软雅黑 Light" panose="020B0502040204020203" charset="-122"/>
              </a:endParaRPr>
            </a:p>
          </p:txBody>
        </p:sp>
        <p:sp>
          <p:nvSpPr>
            <p:cNvPr id="19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90204"/>
                <a:ea typeface="微软雅黑 Light" panose="020B0502040204020203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0CA4-2368-4D59-8FBB-2D65A51BC434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2D1B2-A81C-44B8-9F41-403C7D1553C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5"/>
          <p:cNvSpPr txBox="1"/>
          <p:nvPr userDrawn="1"/>
        </p:nvSpPr>
        <p:spPr>
          <a:xfrm>
            <a:off x="660400" y="345937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703881"/>
                </a:solidFill>
              </a:rPr>
              <a:t>输入标题</a:t>
            </a:r>
          </a:p>
        </p:txBody>
      </p:sp>
      <p:sp>
        <p:nvSpPr>
          <p:cNvPr id="2" name="文本框 1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>
            <p:custDataLst>
              <p:tags r:id="rId1"/>
            </p:custDataLst>
          </p:nvPr>
        </p:nvSpPr>
        <p:spPr>
          <a:xfrm>
            <a:off x="8614410" y="164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  <a:alpha val="15000"/>
                  </a:schemeClr>
                </a:solidFill>
              </a:rPr>
              <a:t>@</a:t>
            </a:r>
            <a:r>
              <a:rPr lang="zh-CN" altLang="en-US">
                <a:solidFill>
                  <a:schemeClr val="bg1">
                    <a:lumMod val="95000"/>
                    <a:alpha val="15000"/>
                  </a:schemeClr>
                </a:solidFill>
              </a:rPr>
              <a:t>交交通通的快乐生活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953000" y="-2209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@</a:t>
            </a:r>
            <a:r>
              <a:rPr lang="zh-CN" altLang="en-US"/>
              <a:t>交交通通的快乐生活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5DBEE-1797-4954-806D-9065D78AE601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6" r:id="rId12"/>
    <p:sldLayoutId id="214748367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image" Target="../media/image4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2.png"/><Relationship Id="rId5" Type="http://schemas.openxmlformats.org/officeDocument/2006/relationships/tags" Target="../tags/tag13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5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2.png"/><Relationship Id="rId2" Type="http://schemas.openxmlformats.org/officeDocument/2006/relationships/tags" Target="../tags/tag18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slideLayout" Target="../slideLayouts/slideLayout21.xml"/><Relationship Id="rId10" Type="http://schemas.openxmlformats.org/officeDocument/2006/relationships/tags" Target="../tags/tag26.xml"/><Relationship Id="rId19" Type="http://schemas.openxmlformats.org/officeDocument/2006/relationships/image" Target="../media/image4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5.png"/><Relationship Id="rId3" Type="http://schemas.openxmlformats.org/officeDocument/2006/relationships/tags" Target="../tags/tag33.xml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4.png"/><Relationship Id="rId2" Type="http://schemas.openxmlformats.org/officeDocument/2006/relationships/tags" Target="../tags/tag32.xml"/><Relationship Id="rId16" Type="http://schemas.microsoft.com/office/2007/relationships/hdphoto" Target="../media/hdphoto3.wdp"/><Relationship Id="rId20" Type="http://schemas.openxmlformats.org/officeDocument/2006/relationships/image" Target="../media/image17.png"/><Relationship Id="rId1" Type="http://schemas.openxmlformats.org/officeDocument/2006/relationships/tags" Target="../tags/tag3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19" Type="http://schemas.openxmlformats.org/officeDocument/2006/relationships/image" Target="../media/image16.jpeg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8.png"/><Relationship Id="rId14" Type="http://schemas.microsoft.com/office/2007/relationships/hdphoto" Target="../media/hdphoto2.wdp"/><Relationship Id="rId22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comments" Target="../comments/comment2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6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19.png"/><Relationship Id="rId9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4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10" Type="http://schemas.openxmlformats.org/officeDocument/2006/relationships/comments" Target="../comments/comment4.xml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8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44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tags" Target="../tags/tag42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tags" Target="../tags/tag41.xml"/><Relationship Id="rId6" Type="http://schemas.openxmlformats.org/officeDocument/2006/relationships/image" Target="../media/image30.png"/><Relationship Id="rId11" Type="http://schemas.microsoft.com/office/2007/relationships/hdphoto" Target="../media/hdphoto4.wdp"/><Relationship Id="rId24" Type="http://schemas.openxmlformats.org/officeDocument/2006/relationships/comments" Target="../comments/comment5.xml"/><Relationship Id="rId5" Type="http://schemas.openxmlformats.org/officeDocument/2006/relationships/image" Target="../media/image4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4.png"/><Relationship Id="rId19" Type="http://schemas.openxmlformats.org/officeDocument/2006/relationships/image" Target="../media/image42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3.png"/><Relationship Id="rId14" Type="http://schemas.openxmlformats.org/officeDocument/2006/relationships/image" Target="../media/image37.png"/><Relationship Id="rId22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43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47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4.png"/><Relationship Id="rId5" Type="http://schemas.openxmlformats.org/officeDocument/2006/relationships/image" Target="../media/image46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4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3.png"/><Relationship Id="rId5" Type="http://schemas.openxmlformats.org/officeDocument/2006/relationships/tags" Target="../tags/tag52.xml"/><Relationship Id="rId10" Type="http://schemas.openxmlformats.org/officeDocument/2006/relationships/image" Target="../media/image2.png"/><Relationship Id="rId4" Type="http://schemas.openxmlformats.org/officeDocument/2006/relationships/tags" Target="../tags/tag51.xml"/><Relationship Id="rId9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8598" b="5000"/>
          <a:stretch>
            <a:fillRect/>
          </a:stretch>
        </p:blipFill>
        <p:spPr>
          <a:xfrm>
            <a:off x="0" y="2204085"/>
            <a:ext cx="3907790" cy="4560570"/>
          </a:xfrm>
          <a:prstGeom prst="rect">
            <a:avLst/>
          </a:prstGeom>
        </p:spPr>
      </p:pic>
      <p:sp>
        <p:nvSpPr>
          <p:cNvPr id="15" name="businessman_126354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6919979" y="4595472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</p:sp>
      <p:sp>
        <p:nvSpPr>
          <p:cNvPr id="18" name="user-avatar-profile_70039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2689746" y="4615184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102305" y="4592067"/>
            <a:ext cx="371457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pc="3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成员：卫煜文 廖宇轩 徐恒佳</a:t>
            </a:r>
            <a:endParaRPr lang="en-US" altLang="zh-CN" spc="3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7376163" y="4580344"/>
            <a:ext cx="3714570" cy="310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pc="3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学院</a:t>
            </a:r>
            <a:r>
              <a:rPr lang="zh-CN" altLang="en-US" spc="3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：</a:t>
            </a:r>
            <a:r>
              <a:rPr lang="zh-CN" altLang="en-US" spc="3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软件学院</a:t>
            </a:r>
            <a:endParaRPr lang="en-US" altLang="zh-CN" spc="300" dirty="0" err="1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8" name="Rectangle 2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29945" y="3827863"/>
            <a:ext cx="2438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itchFamily="2" charset="-122"/>
              </a:rPr>
              <a:t>大创结题汇报</a:t>
            </a:r>
          </a:p>
        </p:txBody>
      </p: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2126945" y="3694725"/>
            <a:ext cx="7938111" cy="0"/>
          </a:xfrm>
          <a:prstGeom prst="line">
            <a:avLst/>
          </a:prstGeom>
          <a:ln w="28575">
            <a:solidFill>
              <a:schemeClr val="accent1">
                <a:lumMod val="75000"/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346274" y="1245316"/>
            <a:ext cx="11546319" cy="22155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000" b="1" spc="300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基于动态知识图谱的</a:t>
            </a:r>
            <a:r>
              <a:rPr lang="en-US" altLang="zh-CN" sz="6000" b="1" spc="300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RAG</a:t>
            </a:r>
            <a:r>
              <a:rPr lang="zh-CN" altLang="en-US" sz="6000" b="1" spc="300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增强大模型辅助专家系统</a:t>
            </a: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>
            <a:lum bright="-100000" contrast="100000"/>
          </a:blip>
          <a:stretch>
            <a:fillRect/>
          </a:stretch>
        </p:blipFill>
        <p:spPr>
          <a:xfrm>
            <a:off x="9363710" y="225425"/>
            <a:ext cx="2440305" cy="652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941560" y="6975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@</a:t>
            </a:r>
            <a:r>
              <a:rPr lang="zh-CN" altLang="en-US"/>
              <a:t>交交通通的快乐生活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1406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01060" y="1081405"/>
            <a:ext cx="5400000" cy="5400000"/>
          </a:xfrm>
          <a:prstGeom prst="rect">
            <a:avLst/>
          </a:prstGeom>
        </p:spPr>
      </p:pic>
      <p:sp>
        <p:nvSpPr>
          <p:cNvPr id="39" name="标题 5"/>
          <p:cNvSpPr txBox="1"/>
          <p:nvPr/>
        </p:nvSpPr>
        <p:spPr>
          <a:xfrm>
            <a:off x="269239" y="168474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i="1" dirty="0">
                <a:solidFill>
                  <a:srgbClr val="000000"/>
                </a:solidFill>
              </a:rPr>
              <a:t>CONTENTS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1793453" y="2056310"/>
            <a:ext cx="1607820" cy="1444592"/>
            <a:chOff x="1612535" y="1487903"/>
            <a:chExt cx="1607820" cy="1444592"/>
          </a:xfrm>
        </p:grpSpPr>
        <p:grpSp>
          <p:nvGrpSpPr>
            <p:cNvPr id="36" name="组合 35"/>
            <p:cNvGrpSpPr/>
            <p:nvPr/>
          </p:nvGrpSpPr>
          <p:grpSpPr>
            <a:xfrm>
              <a:off x="2024444" y="1487903"/>
              <a:ext cx="749137" cy="749136"/>
              <a:chOff x="3283275" y="2566737"/>
              <a:chExt cx="850232" cy="850232"/>
            </a:xfrm>
          </p:grpSpPr>
          <p:sp>
            <p:nvSpPr>
              <p:cNvPr id="38" name="椭圆 37"/>
              <p:cNvSpPr/>
              <p:nvPr>
                <p:custDataLst>
                  <p:tags r:id="rId14"/>
                </p:custDataLst>
              </p:nvPr>
            </p:nvSpPr>
            <p:spPr>
              <a:xfrm>
                <a:off x="3283275" y="2566737"/>
                <a:ext cx="850232" cy="850232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23900" dist="38100" dir="8100000" algn="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703881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319783" y="2668688"/>
                <a:ext cx="777218" cy="663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宋体 CN Heavy" panose="02010600030101010101" pitchFamily="18" charset="-122"/>
                    <a:ea typeface="思源宋体 CN Heavy" panose="02010600030101010101" pitchFamily="18" charset="-122"/>
                    <a:cs typeface="+mn-cs"/>
                  </a:rPr>
                  <a:t>01</a:t>
                </a:r>
              </a:p>
            </p:txBody>
          </p:sp>
        </p:grpSp>
        <p:sp>
          <p:nvSpPr>
            <p:cNvPr id="37" name="矩形 36"/>
            <p:cNvSpPr/>
            <p:nvPr>
              <p:custDataLst>
                <p:tags r:id="rId13"/>
              </p:custDataLst>
            </p:nvPr>
          </p:nvSpPr>
          <p:spPr>
            <a:xfrm>
              <a:off x="1612535" y="2410525"/>
              <a:ext cx="1607820" cy="521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kern="0" dirty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项目背景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568414" y="2056310"/>
            <a:ext cx="3083304" cy="1502933"/>
            <a:chOff x="851749" y="1487903"/>
            <a:chExt cx="3083304" cy="1502933"/>
          </a:xfrm>
        </p:grpSpPr>
        <p:grpSp>
          <p:nvGrpSpPr>
            <p:cNvPr id="51" name="组合 50"/>
            <p:cNvGrpSpPr/>
            <p:nvPr/>
          </p:nvGrpSpPr>
          <p:grpSpPr>
            <a:xfrm>
              <a:off x="2024444" y="1487903"/>
              <a:ext cx="749137" cy="749136"/>
              <a:chOff x="3283275" y="2566737"/>
              <a:chExt cx="850232" cy="850232"/>
            </a:xfrm>
          </p:grpSpPr>
          <p:sp>
            <p:nvSpPr>
              <p:cNvPr id="53" name="椭圆 52"/>
              <p:cNvSpPr/>
              <p:nvPr>
                <p:custDataLst>
                  <p:tags r:id="rId12"/>
                </p:custDataLst>
              </p:nvPr>
            </p:nvSpPr>
            <p:spPr>
              <a:xfrm>
                <a:off x="3283275" y="2566737"/>
                <a:ext cx="850232" cy="850232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23900" dist="38100" dir="8100000" algn="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16145" y="2668688"/>
                <a:ext cx="784494" cy="663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宋体 CN Heavy" panose="02010600030101010101" pitchFamily="18" charset="-122"/>
                    <a:ea typeface="思源宋体 CN Heavy" panose="02010600030101010101" pitchFamily="18" charset="-122"/>
                    <a:cs typeface="+mn-cs"/>
                  </a:rPr>
                  <a:t>02</a:t>
                </a:r>
              </a:p>
            </p:txBody>
          </p:sp>
        </p:grpSp>
        <p:sp>
          <p:nvSpPr>
            <p:cNvPr id="52" name="矩形 51"/>
            <p:cNvSpPr/>
            <p:nvPr>
              <p:custDataLst>
                <p:tags r:id="rId11"/>
              </p:custDataLst>
            </p:nvPr>
          </p:nvSpPr>
          <p:spPr>
            <a:xfrm>
              <a:off x="851749" y="2467616"/>
              <a:ext cx="308330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/>
              <a:r>
                <a:rPr lang="zh-CN" altLang="en-US" sz="2800" b="1" kern="0" dirty="0" smtClean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总体架构与工作流</a:t>
              </a:r>
              <a:endParaRPr lang="zh-CN" altLang="en-US" sz="2800" b="1" kern="0" dirty="0">
                <a:solidFill>
                  <a:schemeClr val="dk1">
                    <a:lumMod val="65000"/>
                    <a:lumOff val="35000"/>
                  </a:schemeClr>
                </a:solidFill>
                <a:latin typeface="思源宋体 CN Heavy" panose="02010600030101010101" pitchFamily="18" charset="-122"/>
                <a:ea typeface="思源宋体 CN Heavy" panose="02010600030101010101" pitchFamily="18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994886" y="4029491"/>
            <a:ext cx="2339102" cy="1427802"/>
            <a:chOff x="1278221" y="1487903"/>
            <a:chExt cx="2339102" cy="1427802"/>
          </a:xfrm>
        </p:grpSpPr>
        <p:grpSp>
          <p:nvGrpSpPr>
            <p:cNvPr id="56" name="组合 55"/>
            <p:cNvGrpSpPr/>
            <p:nvPr/>
          </p:nvGrpSpPr>
          <p:grpSpPr>
            <a:xfrm>
              <a:off x="2024444" y="1487903"/>
              <a:ext cx="749137" cy="749136"/>
              <a:chOff x="3283275" y="2566737"/>
              <a:chExt cx="850232" cy="850232"/>
            </a:xfrm>
          </p:grpSpPr>
          <p:sp>
            <p:nvSpPr>
              <p:cNvPr id="58" name="椭圆 57"/>
              <p:cNvSpPr/>
              <p:nvPr>
                <p:custDataLst>
                  <p:tags r:id="rId10"/>
                </p:custDataLst>
              </p:nvPr>
            </p:nvSpPr>
            <p:spPr>
              <a:xfrm>
                <a:off x="3283275" y="2566737"/>
                <a:ext cx="850232" cy="850232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23900" dist="38100" dir="8100000" algn="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3316145" y="2668688"/>
                <a:ext cx="784494" cy="663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宋体 CN Heavy" panose="02010600030101010101" pitchFamily="18" charset="-122"/>
                    <a:ea typeface="思源宋体 CN Heavy" panose="02010600030101010101" pitchFamily="18" charset="-122"/>
                    <a:cs typeface="+mn-cs"/>
                  </a:rPr>
                  <a:t>05</a:t>
                </a:r>
              </a:p>
            </p:txBody>
          </p:sp>
        </p:grpSp>
        <p:sp>
          <p:nvSpPr>
            <p:cNvPr id="57" name="矩形 56"/>
            <p:cNvSpPr/>
            <p:nvPr>
              <p:custDataLst>
                <p:tags r:id="rId9"/>
              </p:custDataLst>
            </p:nvPr>
          </p:nvSpPr>
          <p:spPr>
            <a:xfrm>
              <a:off x="1278221" y="2392485"/>
              <a:ext cx="23391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kern="0" dirty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系统界面展示</a:t>
              </a:r>
            </a:p>
          </p:txBody>
        </p:sp>
      </p:grpSp>
      <p:cxnSp>
        <p:nvCxnSpPr>
          <p:cNvPr id="34" name="直接连接符 33"/>
          <p:cNvCxnSpPr/>
          <p:nvPr/>
        </p:nvCxnSpPr>
        <p:spPr>
          <a:xfrm>
            <a:off x="0" y="989634"/>
            <a:ext cx="12179808" cy="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1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9020483" y="2056310"/>
            <a:ext cx="1261884" cy="1439875"/>
            <a:chOff x="1768070" y="1487903"/>
            <a:chExt cx="1261884" cy="1439875"/>
          </a:xfrm>
        </p:grpSpPr>
        <p:grpSp>
          <p:nvGrpSpPr>
            <p:cNvPr id="70" name="组合 69"/>
            <p:cNvGrpSpPr/>
            <p:nvPr/>
          </p:nvGrpSpPr>
          <p:grpSpPr>
            <a:xfrm>
              <a:off x="2024444" y="1487903"/>
              <a:ext cx="749137" cy="749136"/>
              <a:chOff x="3283275" y="2566737"/>
              <a:chExt cx="850232" cy="850232"/>
            </a:xfrm>
          </p:grpSpPr>
          <p:sp>
            <p:nvSpPr>
              <p:cNvPr id="72" name="椭圆 71"/>
              <p:cNvSpPr/>
              <p:nvPr>
                <p:custDataLst>
                  <p:tags r:id="rId8"/>
                </p:custDataLst>
              </p:nvPr>
            </p:nvSpPr>
            <p:spPr>
              <a:xfrm>
                <a:off x="3283275" y="2566737"/>
                <a:ext cx="850232" cy="850232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23900" dist="38100" dir="8100000" algn="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703881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</a:endParaRPr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3316145" y="2668688"/>
                <a:ext cx="784494" cy="663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宋体 CN Heavy" panose="02010600030101010101" pitchFamily="18" charset="-122"/>
                    <a:ea typeface="思源宋体 CN Heavy" panose="02010600030101010101" pitchFamily="18" charset="-122"/>
                    <a:cs typeface="+mn-cs"/>
                  </a:rPr>
                  <a:t>03</a:t>
                </a:r>
              </a:p>
            </p:txBody>
          </p:sp>
        </p:grpSp>
        <p:sp>
          <p:nvSpPr>
            <p:cNvPr id="71" name="矩形 70"/>
            <p:cNvSpPr/>
            <p:nvPr>
              <p:custDataLst>
                <p:tags r:id="rId7"/>
              </p:custDataLst>
            </p:nvPr>
          </p:nvSpPr>
          <p:spPr>
            <a:xfrm>
              <a:off x="1768070" y="2404558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kern="0" dirty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创新点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826928" y="4029491"/>
            <a:ext cx="1620957" cy="1427802"/>
            <a:chOff x="1574515" y="1487903"/>
            <a:chExt cx="1620957" cy="1427802"/>
          </a:xfrm>
        </p:grpSpPr>
        <p:grpSp>
          <p:nvGrpSpPr>
            <p:cNvPr id="75" name="组合 74"/>
            <p:cNvGrpSpPr/>
            <p:nvPr/>
          </p:nvGrpSpPr>
          <p:grpSpPr>
            <a:xfrm>
              <a:off x="2024444" y="1487903"/>
              <a:ext cx="749137" cy="749136"/>
              <a:chOff x="3283275" y="2566737"/>
              <a:chExt cx="850232" cy="850232"/>
            </a:xfrm>
          </p:grpSpPr>
          <p:sp>
            <p:nvSpPr>
              <p:cNvPr id="77" name="椭圆 76"/>
              <p:cNvSpPr/>
              <p:nvPr>
                <p:custDataLst>
                  <p:tags r:id="rId6"/>
                </p:custDataLst>
              </p:nvPr>
            </p:nvSpPr>
            <p:spPr>
              <a:xfrm>
                <a:off x="3283275" y="2566737"/>
                <a:ext cx="850232" cy="850232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23900" dist="38100" dir="8100000" algn="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3316145" y="2668688"/>
                <a:ext cx="784494" cy="663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宋体 CN Heavy" panose="02010600030101010101" pitchFamily="18" charset="-122"/>
                    <a:ea typeface="思源宋体 CN Heavy" panose="02010600030101010101" pitchFamily="18" charset="-122"/>
                    <a:cs typeface="+mn-cs"/>
                  </a:rPr>
                  <a:t>06</a:t>
                </a:r>
              </a:p>
            </p:txBody>
          </p:sp>
        </p:grpSp>
        <p:sp>
          <p:nvSpPr>
            <p:cNvPr id="76" name="矩形 75"/>
            <p:cNvSpPr/>
            <p:nvPr>
              <p:custDataLst>
                <p:tags r:id="rId5"/>
              </p:custDataLst>
            </p:nvPr>
          </p:nvSpPr>
          <p:spPr>
            <a:xfrm>
              <a:off x="1574515" y="2392485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kern="0" dirty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总结</a:t>
              </a:r>
              <a:r>
                <a:rPr lang="zh-CN" altLang="en-US" sz="2800" b="1" kern="0" dirty="0" smtClean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展望</a:t>
              </a:r>
              <a:endParaRPr lang="zh-CN" altLang="en-US" sz="2800" b="1" kern="0" dirty="0">
                <a:solidFill>
                  <a:schemeClr val="dk1">
                    <a:lumMod val="65000"/>
                    <a:lumOff val="35000"/>
                  </a:schemeClr>
                </a:solidFill>
                <a:latin typeface="思源宋体 CN Heavy" panose="02010600030101010101" pitchFamily="18" charset="-122"/>
                <a:ea typeface="思源宋体 CN Heavy" panose="02010600030101010101" pitchFamily="18" charset="-122"/>
              </a:endParaRPr>
            </a:p>
          </p:txBody>
        </p:sp>
      </p:grpSp>
      <p:pic>
        <p:nvPicPr>
          <p:cNvPr id="3" name="图片 2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lum bright="-100000" contrast="100000"/>
          </a:blip>
          <a:stretch>
            <a:fillRect/>
          </a:stretch>
        </p:blipFill>
        <p:spPr>
          <a:xfrm>
            <a:off x="9363710" y="225425"/>
            <a:ext cx="2440305" cy="65278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1780103" y="4072447"/>
            <a:ext cx="1620957" cy="1386240"/>
            <a:chOff x="1582358" y="1487903"/>
            <a:chExt cx="1620957" cy="1386240"/>
          </a:xfrm>
        </p:grpSpPr>
        <p:grpSp>
          <p:nvGrpSpPr>
            <p:cNvPr id="41" name="组合 40"/>
            <p:cNvGrpSpPr/>
            <p:nvPr/>
          </p:nvGrpSpPr>
          <p:grpSpPr>
            <a:xfrm>
              <a:off x="2024444" y="1487903"/>
              <a:ext cx="749137" cy="749136"/>
              <a:chOff x="3283275" y="2566737"/>
              <a:chExt cx="850232" cy="850232"/>
            </a:xfrm>
          </p:grpSpPr>
          <p:sp>
            <p:nvSpPr>
              <p:cNvPr id="43" name="椭圆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3283275" y="2566737"/>
                <a:ext cx="850232" cy="850232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23900" dist="38100" dir="8100000" algn="tr" rotWithShape="0">
                  <a:prstClr val="black">
                    <a:alpha val="1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cs typeface="+mn-ea"/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3307049" y="2668688"/>
                <a:ext cx="802687" cy="663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32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宋体 CN Heavy" panose="02010600030101010101" pitchFamily="18" charset="-122"/>
                    <a:ea typeface="思源宋体 CN Heavy" panose="02010600030101010101" pitchFamily="18" charset="-122"/>
                    <a:cs typeface="+mn-cs"/>
                  </a:rPr>
                  <a:t>04</a:t>
                </a:r>
                <a:endPara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 Heavy" panose="02010600030101010101" pitchFamily="18" charset="-122"/>
                  <a:ea typeface="思源宋体 CN Heavy" panose="02010600030101010101" pitchFamily="18" charset="-122"/>
                  <a:cs typeface="+mn-cs"/>
                </a:endParaRPr>
              </a:p>
            </p:txBody>
          </p:sp>
        </p:grpSp>
        <p:sp>
          <p:nvSpPr>
            <p:cNvPr id="42" name="矩形 41"/>
            <p:cNvSpPr/>
            <p:nvPr>
              <p:custDataLst>
                <p:tags r:id="rId3"/>
              </p:custDataLst>
            </p:nvPr>
          </p:nvSpPr>
          <p:spPr>
            <a:xfrm>
              <a:off x="1582358" y="2350923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kern="0" dirty="0">
                  <a:solidFill>
                    <a:schemeClr val="dk1">
                      <a:lumMod val="65000"/>
                      <a:lumOff val="35000"/>
                    </a:schemeClr>
                  </a:solidFill>
                  <a:latin typeface="思源宋体 CN Heavy" panose="02010600030101010101" pitchFamily="18" charset="-122"/>
                  <a:ea typeface="思源宋体 CN Heavy" panose="02010600030101010101" pitchFamily="18" charset="-122"/>
                </a:rPr>
                <a:t>软件测试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5"/>
          <p:cNvSpPr txBox="1"/>
          <p:nvPr/>
        </p:nvSpPr>
        <p:spPr>
          <a:xfrm>
            <a:off x="1300480" y="327649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200" dirty="0">
              <a:solidFill>
                <a:srgbClr val="703881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1"/>
            </p:custDataLst>
          </p:nvPr>
        </p:nvSpPr>
        <p:spPr>
          <a:xfrm>
            <a:off x="196215" y="1071245"/>
            <a:ext cx="1767840" cy="652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rPr>
              <a:t>教学辅助系统的挑战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65430" y="199390"/>
            <a:ext cx="42557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项目背景</a:t>
            </a:r>
            <a:endParaRPr lang="en-US" altLang="zh-CN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>
            <p:custDataLst>
              <p:tags r:id="rId2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grpSp>
        <p:nvGrpSpPr>
          <p:cNvPr id="256" name="组合 255"/>
          <p:cNvGrpSpPr/>
          <p:nvPr/>
        </p:nvGrpSpPr>
        <p:grpSpPr>
          <a:xfrm>
            <a:off x="218166" y="1066513"/>
            <a:ext cx="8391798" cy="5371442"/>
            <a:chOff x="874883" y="420785"/>
            <a:chExt cx="9814696" cy="5826267"/>
          </a:xfrm>
        </p:grpSpPr>
        <p:sp>
          <p:nvSpPr>
            <p:cNvPr id="257" name="圆角矩形 256"/>
            <p:cNvSpPr/>
            <p:nvPr/>
          </p:nvSpPr>
          <p:spPr>
            <a:xfrm>
              <a:off x="5927364" y="3586449"/>
              <a:ext cx="4762215" cy="2644044"/>
            </a:xfrm>
            <a:prstGeom prst="roundRect">
              <a:avLst>
                <a:gd name="adj" fmla="val 8695"/>
              </a:avLst>
            </a:prstGeom>
            <a:solidFill>
              <a:srgbClr val="30C0B4">
                <a:lumMod val="20000"/>
                <a:lumOff val="80000"/>
              </a:srgbClr>
            </a:soli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58" name="圆角矩形 257"/>
            <p:cNvSpPr/>
            <p:nvPr/>
          </p:nvSpPr>
          <p:spPr>
            <a:xfrm>
              <a:off x="874883" y="420785"/>
              <a:ext cx="9814696" cy="2927102"/>
            </a:xfrm>
            <a:prstGeom prst="roundRect">
              <a:avLst>
                <a:gd name="adj" fmla="val 8245"/>
              </a:avLst>
            </a:prstGeom>
            <a:solidFill>
              <a:srgbClr val="4874CB">
                <a:lumMod val="20000"/>
                <a:lumOff val="80000"/>
              </a:srgbClr>
            </a:soli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59" name="圆角矩形 258"/>
            <p:cNvSpPr/>
            <p:nvPr/>
          </p:nvSpPr>
          <p:spPr>
            <a:xfrm>
              <a:off x="874883" y="3603008"/>
              <a:ext cx="4762215" cy="2644044"/>
            </a:xfrm>
            <a:prstGeom prst="roundRect">
              <a:avLst>
                <a:gd name="adj" fmla="val 8695"/>
              </a:avLst>
            </a:prstGeom>
            <a:solidFill>
              <a:srgbClr val="EE822F">
                <a:lumMod val="20000"/>
                <a:lumOff val="80000"/>
              </a:srgbClr>
            </a:soli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60" name="文本框 259"/>
            <p:cNvSpPr txBox="1"/>
            <p:nvPr/>
          </p:nvSpPr>
          <p:spPr>
            <a:xfrm>
              <a:off x="1119296" y="437962"/>
              <a:ext cx="854988" cy="4230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</a:t>
              </a:r>
            </a:p>
          </p:txBody>
        </p:sp>
        <p:sp>
          <p:nvSpPr>
            <p:cNvPr id="261" name="文本框 260"/>
            <p:cNvSpPr txBox="1"/>
            <p:nvPr/>
          </p:nvSpPr>
          <p:spPr>
            <a:xfrm>
              <a:off x="1082742" y="3704355"/>
              <a:ext cx="854988" cy="4230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挑战</a:t>
              </a:r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6134604" y="3676852"/>
              <a:ext cx="1465694" cy="4230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项目内容</a:t>
              </a:r>
            </a:p>
          </p:txBody>
        </p:sp>
        <p:sp>
          <p:nvSpPr>
            <p:cNvPr id="263" name="圆角矩形 262"/>
            <p:cNvSpPr/>
            <p:nvPr/>
          </p:nvSpPr>
          <p:spPr>
            <a:xfrm>
              <a:off x="1119296" y="847171"/>
              <a:ext cx="4517802" cy="2344940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64" name="矩形 263"/>
            <p:cNvSpPr/>
            <p:nvPr/>
          </p:nvSpPr>
          <p:spPr>
            <a:xfrm>
              <a:off x="2241581" y="871862"/>
              <a:ext cx="2279968" cy="4583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传统搜题工具</a:t>
              </a:r>
            </a:p>
          </p:txBody>
        </p:sp>
        <p:sp>
          <p:nvSpPr>
            <p:cNvPr id="265" name="圆角矩形 264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341140" y="1399342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对静态题库依赖过高</a:t>
              </a:r>
            </a:p>
          </p:txBody>
        </p:sp>
        <p:sp>
          <p:nvSpPr>
            <p:cNvPr id="266" name="圆角矩形 265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355918" y="1947635"/>
              <a:ext cx="3776945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主观题作答能力差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7" name="圆角矩形 266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355917" y="2545239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LLM</a:t>
              </a: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回答宽泛模糊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8" name="圆角矩形 267"/>
            <p:cNvSpPr/>
            <p:nvPr/>
          </p:nvSpPr>
          <p:spPr>
            <a:xfrm>
              <a:off x="5927364" y="847171"/>
              <a:ext cx="4484169" cy="2344941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69" name="圆角矩形 268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6397962" y="1399342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海量</a:t>
              </a: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资源维护成本高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0" name="矩形 269"/>
            <p:cNvSpPr/>
            <p:nvPr/>
          </p:nvSpPr>
          <p:spPr>
            <a:xfrm>
              <a:off x="7146452" y="894866"/>
              <a:ext cx="2279968" cy="4583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综合教学平台</a:t>
              </a:r>
            </a:p>
          </p:txBody>
        </p:sp>
        <p:sp>
          <p:nvSpPr>
            <p:cNvPr id="271" name="圆角矩形 270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6397960" y="1946099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RAG</a:t>
              </a: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整体能力一般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2" name="圆角矩形 271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6397959" y="2529152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教学辅助个性化差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73" name="矩形 272"/>
            <p:cNvSpPr/>
            <p:nvPr/>
          </p:nvSpPr>
          <p:spPr>
            <a:xfrm>
              <a:off x="6100530" y="3553130"/>
              <a:ext cx="244368" cy="4230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苹方-简"/>
              </a:endParaRPr>
            </a:p>
          </p:txBody>
        </p:sp>
        <p:pic>
          <p:nvPicPr>
            <p:cNvPr id="274" name="Picture 6" descr="Exclamation mark PNG transparent image download, size: 980x980px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EE822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983" y="1417536"/>
              <a:ext cx="357056" cy="33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5" name="Picture 6" descr="Exclamation mark PNG transparent image download, size: 980x980px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EE822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985" y="1964311"/>
              <a:ext cx="357056" cy="33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6" name="Picture 6" descr="Exclamation mark PNG transparent image download, size: 980x980px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EE822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986" y="2559992"/>
              <a:ext cx="357056" cy="33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7" name="Picture 6" descr="Exclamation mark PNG transparent image download, size: 980x980px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EE822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3718" y="1421228"/>
              <a:ext cx="357056" cy="33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8" name="Picture 6" descr="Exclamation mark PNG transparent image download, size: 980x980px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EE822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8086" y="1958492"/>
              <a:ext cx="357056" cy="33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9" name="Picture 6" descr="Exclamation mark PNG transparent image download, size: 980x980px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srgbClr val="EE822F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8086" y="2549538"/>
              <a:ext cx="357056" cy="337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0" name="图片 279"/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4608" y="926026"/>
              <a:ext cx="442597" cy="442800"/>
            </a:xfrm>
            <a:prstGeom prst="roundRect">
              <a:avLst>
                <a:gd name="adj" fmla="val 21801"/>
              </a:avLst>
            </a:prstGeom>
            <a:noFill/>
            <a:ln>
              <a:noFill/>
            </a:ln>
          </p:spPr>
        </p:pic>
        <p:pic>
          <p:nvPicPr>
            <p:cNvPr id="281" name="Picture 10" descr="大学搜题酱APP下载，大学搜题酱软件2024最新版 – 腾讯应用宝官网"/>
            <p:cNvPicPr>
              <a:picLocks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0444" y="919129"/>
              <a:ext cx="442801" cy="442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2" name="图片 281"/>
            <p:cNvPicPr>
              <a:picLocks/>
            </p:cNvPicPr>
            <p:nvPr/>
          </p:nvPicPr>
          <p:blipFill rotWithShape="1">
            <a:blip r:embed="rId10"/>
            <a:srcRect l="7625" t="-1" r="5031" b="3605"/>
            <a:stretch/>
          </p:blipFill>
          <p:spPr>
            <a:xfrm>
              <a:off x="6076845" y="935168"/>
              <a:ext cx="442801" cy="442800"/>
            </a:xfrm>
            <a:prstGeom prst="roundRect">
              <a:avLst/>
            </a:prstGeom>
          </p:spPr>
        </p:pic>
        <p:pic>
          <p:nvPicPr>
            <p:cNvPr id="283" name="图片 282"/>
            <p:cNvPicPr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6978" y="924292"/>
              <a:ext cx="442800" cy="442800"/>
            </a:xfrm>
            <a:prstGeom prst="rect">
              <a:avLst/>
            </a:prstGeom>
          </p:spPr>
        </p:pic>
        <p:sp>
          <p:nvSpPr>
            <p:cNvPr id="284" name="圆角矩形 283"/>
            <p:cNvSpPr/>
            <p:nvPr/>
          </p:nvSpPr>
          <p:spPr>
            <a:xfrm>
              <a:off x="6183375" y="4164830"/>
              <a:ext cx="4250190" cy="1999940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85" name="圆角矩形 284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6397959" y="4416303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动态时序图</a:t>
              </a:r>
              <a:r>
                <a:rPr lang="zh-CN" altLang="en-US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知识库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6" name="圆角矩形 285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6397958" y="5040723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多种因素检索框架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7" name="圆角矩形 286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6419998" y="5665144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教学大纲</a:t>
              </a:r>
              <a:r>
                <a:rPr lang="zh-CN" altLang="en-US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智能</a:t>
              </a: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匹配工具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" name="右箭头 287"/>
            <p:cNvSpPr/>
            <p:nvPr/>
          </p:nvSpPr>
          <p:spPr>
            <a:xfrm>
              <a:off x="5474291" y="4540379"/>
              <a:ext cx="599178" cy="122331"/>
            </a:xfrm>
            <a:prstGeom prst="rightArrow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89" name="右箭头 288"/>
            <p:cNvSpPr/>
            <p:nvPr/>
          </p:nvSpPr>
          <p:spPr>
            <a:xfrm>
              <a:off x="5477434" y="5164799"/>
              <a:ext cx="599178" cy="122331"/>
            </a:xfrm>
            <a:prstGeom prst="rightArrow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90" name="右箭头 289"/>
            <p:cNvSpPr/>
            <p:nvPr/>
          </p:nvSpPr>
          <p:spPr>
            <a:xfrm>
              <a:off x="5467017" y="5789220"/>
              <a:ext cx="599178" cy="122331"/>
            </a:xfrm>
            <a:prstGeom prst="rightArrow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91" name="圆角矩形 290"/>
            <p:cNvSpPr/>
            <p:nvPr/>
          </p:nvSpPr>
          <p:spPr>
            <a:xfrm>
              <a:off x="1110064" y="4164829"/>
              <a:ext cx="4250190" cy="1999940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92" name="圆角矩形 291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343876" y="4416303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海量资源需得到有效维护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3" name="圆角矩形 292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341140" y="5040724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知识准确度依赖</a:t>
              </a:r>
              <a:r>
                <a:rPr kumimoji="0" lang="en-US" altLang="zh-CN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RAG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效果</a:t>
              </a:r>
            </a:p>
          </p:txBody>
        </p:sp>
        <p:sp>
          <p:nvSpPr>
            <p:cNvPr id="294" name="圆角矩形 293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341140" y="5665146"/>
              <a:ext cx="3776947" cy="3693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教学个性化依赖于时间信息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95" name="Picture 2" descr="查看源图像"/>
            <p:cNvPicPr>
              <a:picLocks noChangeAspect="1" noChangeArrowheads="1"/>
            </p:cNvPicPr>
            <p:nvPr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E54C5E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8528" y="4224268"/>
              <a:ext cx="581286" cy="578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6" name="Picture 4" descr="Precision icon outline filled creative element Vector Image"/>
            <p:cNvPicPr>
              <a:picLocks noChangeAspect="1" noChangeArrowheads="1"/>
            </p:cNvPicPr>
            <p:nvPr/>
          </p:nvPicPr>
          <p:blipFill rotWithShape="1"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4874CB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473"/>
            <a:stretch/>
          </p:blipFill>
          <p:spPr bwMode="auto">
            <a:xfrm>
              <a:off x="1061362" y="4899986"/>
              <a:ext cx="599201" cy="519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7" name="图片 296"/>
            <p:cNvPicPr>
              <a:picLocks noChangeAspect="1"/>
            </p:cNvPicPr>
            <p:nvPr/>
          </p:nvPicPr>
          <p:blipFill rotWithShape="1">
            <a:blip r:embed="rId15" cstate="print">
              <a:clrChange>
                <a:clrFrom>
                  <a:srgbClr val="FBFBFB"/>
                </a:clrFrom>
                <a:clrTo>
                  <a:srgbClr val="FBFBFB">
                    <a:alpha val="0"/>
                  </a:srgbClr>
                </a:clrTo>
              </a:clrChange>
              <a:duotone>
                <a:srgbClr val="4874CB">
                  <a:shade val="45000"/>
                  <a:satMod val="135000"/>
                </a:srgb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29" t="14429" r="9593" b="9593"/>
            <a:stretch/>
          </p:blipFill>
          <p:spPr>
            <a:xfrm>
              <a:off x="1064295" y="5520282"/>
              <a:ext cx="541697" cy="541697"/>
            </a:xfrm>
            <a:prstGeom prst="ellipse">
              <a:avLst/>
            </a:prstGeom>
          </p:spPr>
        </p:pic>
        <p:pic>
          <p:nvPicPr>
            <p:cNvPr id="298" name="Picture 8" descr="Diagrams, flow, organization, schemes, structure, work, workflow icon ..."/>
            <p:cNvPicPr>
              <a:picLocks noChangeAspect="1" noChangeArrowheads="1"/>
            </p:cNvPicPr>
            <p:nvPr/>
          </p:nvPicPr>
          <p:blipFill>
            <a:blip r:embed="rId17" cstate="print">
              <a:duotone>
                <a:prstClr val="black"/>
                <a:srgbClr val="4874CB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8129" y="4318910"/>
              <a:ext cx="506065" cy="506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9" name="Picture 10" descr="Data Source Icons - Download Free Vector Icons | Noun Project"/>
            <p:cNvPicPr>
              <a:picLocks noChangeAspect="1" noChangeArrowheads="1"/>
            </p:cNvPicPr>
            <p:nvPr/>
          </p:nvPicPr>
          <p:blipFill>
            <a:blip r:embed="rId18" cstate="print">
              <a:duotone>
                <a:prstClr val="black"/>
                <a:srgbClr val="4874CB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9422" y="4908471"/>
              <a:ext cx="615720" cy="615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12" descr="Calendar plan icon, simple black style 14629443 Vector Art at Vecteezy"/>
            <p:cNvPicPr>
              <a:picLocks noChangeAspect="1" noChangeArrowheads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87" t="4427" r="7232" b="5204"/>
            <a:stretch/>
          </p:blipFill>
          <p:spPr bwMode="auto">
            <a:xfrm>
              <a:off x="6318516" y="5604486"/>
              <a:ext cx="429207" cy="448497"/>
            </a:xfrm>
            <a:prstGeom prst="roundRect">
              <a:avLst>
                <a:gd name="adj" fmla="val 1030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https://p3-flow-imagex-sign.byteimg.com/tos-cn-i-a9rns2rl98/rc_gen_image/fc79d3682cde4c88b5e150ae45df3935.jpeg~tplv-a9rns2rl98-image_pre_watermark_1_5b.png?lk3s=8e244e95&amp;rcl=202603272350001FA11A1388EC1D37C1A4&amp;rrcfp=827586d3&amp;x-expires=2089986622&amp;x-signature=8FmnLQkIigiY2J3xJabt%2BTdtHok%3D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8" t="9248" r="5420" b="39703"/>
          <a:stretch/>
        </p:blipFill>
        <p:spPr bwMode="auto">
          <a:xfrm>
            <a:off x="8984202" y="1055113"/>
            <a:ext cx="2645546" cy="321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9381318" y="4270159"/>
            <a:ext cx="1851314" cy="33855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动态时序图知识库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6" name="Picture 2" descr="https://p3-flow-imagex-sign.byteimg.com/tos-cn-i-a9rns2rl98/rc_gen_image/fc79d3682cde4c88b5e150ae45df3935.jpeg~tplv-a9rns2rl98-image_pre_watermark_1_5b.png?lk3s=8e244e95&amp;rcl=202603272350001FA11A1388EC1D37C1A4&amp;rrcfp=827586d3&amp;x-expires=2089986622&amp;x-signature=8FmnLQkIigiY2J3xJabt%2BTdtHok%3D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8" t="59699" r="5420" b="18791"/>
          <a:stretch/>
        </p:blipFill>
        <p:spPr bwMode="auto">
          <a:xfrm>
            <a:off x="8984202" y="4613457"/>
            <a:ext cx="2645546" cy="135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5"/>
          <p:cNvSpPr txBox="1"/>
          <p:nvPr/>
        </p:nvSpPr>
        <p:spPr>
          <a:xfrm>
            <a:off x="1300480" y="327649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200" dirty="0">
              <a:solidFill>
                <a:srgbClr val="70388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5430" y="199390"/>
            <a:ext cx="42557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2.1 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系统总体框架设计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99440" y="1090930"/>
            <a:ext cx="221805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系统架构图</a:t>
            </a:r>
          </a:p>
        </p:txBody>
      </p:sp>
      <p:sp>
        <p:nvSpPr>
          <p:cNvPr id="20" name="矩形 19"/>
          <p:cNvSpPr/>
          <p:nvPr/>
        </p:nvSpPr>
        <p:spPr>
          <a:xfrm>
            <a:off x="6745605" y="1072970"/>
            <a:ext cx="221805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系统技术栈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599440" y="1985645"/>
            <a:ext cx="5013325" cy="3788410"/>
            <a:chOff x="183" y="2800"/>
            <a:chExt cx="7895" cy="5966"/>
          </a:xfrm>
        </p:grpSpPr>
        <p:sp>
          <p:nvSpPr>
            <p:cNvPr id="5" name="圆柱形 4"/>
            <p:cNvSpPr/>
            <p:nvPr/>
          </p:nvSpPr>
          <p:spPr>
            <a:xfrm>
              <a:off x="2161" y="7432"/>
              <a:ext cx="2485" cy="1306"/>
            </a:xfrm>
            <a:prstGeom prst="can">
              <a:avLst/>
            </a:prstGeom>
            <a:solidFill>
              <a:srgbClr val="162F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smtClean="0"/>
                <a:t>Abution Graph</a:t>
              </a:r>
              <a:endParaRPr lang="en-US" altLang="zh-CN" sz="1600" b="1" dirty="0"/>
            </a:p>
          </p:txBody>
        </p:sp>
        <p:sp>
          <p:nvSpPr>
            <p:cNvPr id="6" name="圆柱形 5"/>
            <p:cNvSpPr/>
            <p:nvPr/>
          </p:nvSpPr>
          <p:spPr>
            <a:xfrm>
              <a:off x="2524" y="4887"/>
              <a:ext cx="5294" cy="1758"/>
            </a:xfrm>
            <a:prstGeom prst="can">
              <a:avLst/>
            </a:prstGeom>
            <a:solidFill>
              <a:srgbClr val="016DB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时序</a:t>
              </a:r>
              <a:r>
                <a:rPr lang="en-US" altLang="zh-CN" sz="2000" b="1" dirty="0"/>
                <a:t>-</a:t>
              </a:r>
              <a:r>
                <a:rPr lang="zh-CN" altLang="en-US" sz="2000" b="1" dirty="0"/>
                <a:t>语义图谱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83" y="3071"/>
              <a:ext cx="173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应用层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83" y="5226"/>
              <a:ext cx="1731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图谱与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搜索层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83" y="7628"/>
              <a:ext cx="1731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存储层</a:t>
              </a:r>
            </a:p>
          </p:txBody>
        </p:sp>
        <p:sp>
          <p:nvSpPr>
            <p:cNvPr id="12" name="圆柱形 11"/>
            <p:cNvSpPr/>
            <p:nvPr/>
          </p:nvSpPr>
          <p:spPr>
            <a:xfrm>
              <a:off x="5606" y="7460"/>
              <a:ext cx="2472" cy="1306"/>
            </a:xfrm>
            <a:prstGeom prst="can">
              <a:avLst/>
            </a:prstGeom>
            <a:solidFill>
              <a:srgbClr val="162F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向量索引</a:t>
              </a:r>
            </a:p>
          </p:txBody>
        </p:sp>
        <p:sp>
          <p:nvSpPr>
            <p:cNvPr id="13" name="圆柱形 12"/>
            <p:cNvSpPr/>
            <p:nvPr/>
          </p:nvSpPr>
          <p:spPr>
            <a:xfrm>
              <a:off x="2161" y="2828"/>
              <a:ext cx="2472" cy="1306"/>
            </a:xfrm>
            <a:prstGeom prst="can">
              <a:avLst/>
            </a:prstGeom>
            <a:solidFill>
              <a:srgbClr val="162F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教师端</a:t>
              </a:r>
            </a:p>
          </p:txBody>
        </p:sp>
        <p:sp>
          <p:nvSpPr>
            <p:cNvPr id="14" name="圆柱形 13"/>
            <p:cNvSpPr/>
            <p:nvPr/>
          </p:nvSpPr>
          <p:spPr>
            <a:xfrm>
              <a:off x="5606" y="2800"/>
              <a:ext cx="2472" cy="1306"/>
            </a:xfrm>
            <a:prstGeom prst="can">
              <a:avLst/>
            </a:prstGeom>
            <a:solidFill>
              <a:srgbClr val="162F4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学生端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37" y="4187"/>
              <a:ext cx="1731" cy="4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000"/>
                <a:t>数据流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437" y="6808"/>
              <a:ext cx="1731" cy="4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000"/>
                <a:t>数据流</a:t>
              </a:r>
            </a:p>
          </p:txBody>
        </p:sp>
        <p:sp>
          <p:nvSpPr>
            <p:cNvPr id="17" name="下箭头 16"/>
            <p:cNvSpPr/>
            <p:nvPr/>
          </p:nvSpPr>
          <p:spPr>
            <a:xfrm>
              <a:off x="3119" y="4257"/>
              <a:ext cx="557" cy="613"/>
            </a:xfrm>
            <a:prstGeom prst="downArrow">
              <a:avLst/>
            </a:prstGeom>
            <a:solidFill>
              <a:srgbClr val="5DAAE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下箭头 17"/>
            <p:cNvSpPr/>
            <p:nvPr/>
          </p:nvSpPr>
          <p:spPr>
            <a:xfrm>
              <a:off x="3119" y="6780"/>
              <a:ext cx="557" cy="613"/>
            </a:xfrm>
            <a:prstGeom prst="downArrow">
              <a:avLst/>
            </a:prstGeom>
            <a:solidFill>
              <a:srgbClr val="5DAAE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下箭头 18"/>
            <p:cNvSpPr/>
            <p:nvPr/>
          </p:nvSpPr>
          <p:spPr>
            <a:xfrm rot="10800000">
              <a:off x="6563" y="4234"/>
              <a:ext cx="557" cy="613"/>
            </a:xfrm>
            <a:prstGeom prst="downArrow">
              <a:avLst/>
            </a:prstGeom>
            <a:solidFill>
              <a:srgbClr val="5DAAE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下箭头 22"/>
            <p:cNvSpPr/>
            <p:nvPr/>
          </p:nvSpPr>
          <p:spPr>
            <a:xfrm rot="10800000">
              <a:off x="6558" y="6746"/>
              <a:ext cx="557" cy="613"/>
            </a:xfrm>
            <a:prstGeom prst="downArrow">
              <a:avLst/>
            </a:prstGeom>
            <a:solidFill>
              <a:srgbClr val="5DAAE9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7143750" y="1697990"/>
            <a:ext cx="3815080" cy="4385945"/>
            <a:chOff x="10376" y="2674"/>
            <a:chExt cx="6008" cy="6907"/>
          </a:xfrm>
        </p:grpSpPr>
        <p:grpSp>
          <p:nvGrpSpPr>
            <p:cNvPr id="28" name="组合 27"/>
            <p:cNvGrpSpPr/>
            <p:nvPr/>
          </p:nvGrpSpPr>
          <p:grpSpPr>
            <a:xfrm>
              <a:off x="10376" y="8553"/>
              <a:ext cx="6008" cy="1028"/>
              <a:chOff x="10172" y="6617"/>
              <a:chExt cx="6417" cy="1306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10172" y="6617"/>
                <a:ext cx="6417" cy="1306"/>
              </a:xfrm>
              <a:prstGeom prst="roundRect">
                <a:avLst/>
              </a:prstGeom>
              <a:solidFill>
                <a:srgbClr val="2589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11069" y="6860"/>
                <a:ext cx="4586" cy="80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20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2225" y="6871"/>
                <a:ext cx="3111" cy="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后端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：Flask</a:t>
                </a:r>
              </a:p>
            </p:txBody>
          </p:sp>
        </p:grpSp>
        <p:sp>
          <p:nvSpPr>
            <p:cNvPr id="29" name="圆角矩形 28"/>
            <p:cNvSpPr/>
            <p:nvPr/>
          </p:nvSpPr>
          <p:spPr>
            <a:xfrm>
              <a:off x="10376" y="7122"/>
              <a:ext cx="6008" cy="1028"/>
            </a:xfrm>
            <a:prstGeom prst="roundRect">
              <a:avLst/>
            </a:prstGeom>
            <a:solidFill>
              <a:srgbClr val="2589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图数据库</a:t>
              </a:r>
              <a:r>
                <a:rPr lang="en-US" altLang="zh-CN" sz="2000" b="1" dirty="0"/>
                <a:t>：</a:t>
              </a:r>
              <a:r>
                <a:rPr lang="en-US" altLang="zh-CN" sz="2000" b="1" dirty="0" smtClean="0"/>
                <a:t>Abution Graph</a:t>
              </a:r>
              <a:endParaRPr lang="en-US" altLang="zh-CN" sz="2000" b="1" dirty="0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10376" y="5614"/>
              <a:ext cx="6008" cy="1067"/>
            </a:xfrm>
            <a:prstGeom prst="roundRect">
              <a:avLst/>
            </a:prstGeom>
            <a:solidFill>
              <a:srgbClr val="2589F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检索：基于证据</a:t>
              </a:r>
              <a:r>
                <a:rPr lang="en-US" altLang="zh-CN" sz="2000" b="1" dirty="0"/>
                <a:t>-</a:t>
              </a:r>
              <a:r>
                <a:rPr lang="zh-CN" altLang="en-US" sz="2000" b="1" dirty="0"/>
                <a:t>路径</a:t>
              </a:r>
              <a:r>
                <a:rPr lang="en-US" altLang="zh-CN" sz="2000" b="1" dirty="0"/>
                <a:t>-</a:t>
              </a:r>
              <a:r>
                <a:rPr lang="zh-CN" altLang="en-US" sz="2000" b="1" dirty="0"/>
                <a:t>教学进度的多路融合检索</a:t>
              </a: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0376" y="4164"/>
              <a:ext cx="6008" cy="1038"/>
              <a:chOff x="10172" y="6617"/>
              <a:chExt cx="6417" cy="1306"/>
            </a:xfrm>
          </p:grpSpPr>
          <p:sp>
            <p:nvSpPr>
              <p:cNvPr id="32" name="圆角矩形 31"/>
              <p:cNvSpPr/>
              <p:nvPr/>
            </p:nvSpPr>
            <p:spPr>
              <a:xfrm>
                <a:off x="10172" y="6617"/>
                <a:ext cx="6417" cy="1306"/>
              </a:xfrm>
              <a:prstGeom prst="roundRect">
                <a:avLst/>
              </a:prstGeom>
              <a:solidFill>
                <a:srgbClr val="2589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11069" y="6860"/>
                <a:ext cx="4586" cy="80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2000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1447" y="6923"/>
                <a:ext cx="4806" cy="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大模型：云端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LLM</a:t>
                </a: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10376" y="2674"/>
              <a:ext cx="6008" cy="1068"/>
              <a:chOff x="10172" y="6617"/>
              <a:chExt cx="6417" cy="1306"/>
            </a:xfrm>
          </p:grpSpPr>
          <p:sp>
            <p:nvSpPr>
              <p:cNvPr id="38" name="圆角矩形 37"/>
              <p:cNvSpPr/>
              <p:nvPr/>
            </p:nvSpPr>
            <p:spPr>
              <a:xfrm>
                <a:off x="10172" y="6617"/>
                <a:ext cx="6417" cy="1306"/>
              </a:xfrm>
              <a:prstGeom prst="roundRect">
                <a:avLst/>
              </a:prstGeom>
              <a:solidFill>
                <a:srgbClr val="2589F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11069" y="6860"/>
                <a:ext cx="4586" cy="80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2000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2060" y="6903"/>
                <a:ext cx="2985" cy="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前端：</a:t>
                </a:r>
                <a:r>
                  <a:rPr lang="en-US" altLang="zh-CN" sz="2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React</a:t>
                </a:r>
              </a:p>
            </p:txBody>
          </p:sp>
        </p:grpSp>
        <p:sp>
          <p:nvSpPr>
            <p:cNvPr id="42" name="下箭头 41"/>
            <p:cNvSpPr/>
            <p:nvPr/>
          </p:nvSpPr>
          <p:spPr>
            <a:xfrm>
              <a:off x="13242" y="3786"/>
              <a:ext cx="409" cy="313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下箭头 42"/>
            <p:cNvSpPr/>
            <p:nvPr/>
          </p:nvSpPr>
          <p:spPr>
            <a:xfrm>
              <a:off x="13242" y="5260"/>
              <a:ext cx="409" cy="313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下箭头 43"/>
            <p:cNvSpPr/>
            <p:nvPr/>
          </p:nvSpPr>
          <p:spPr>
            <a:xfrm>
              <a:off x="13242" y="6766"/>
              <a:ext cx="409" cy="313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下箭头 45"/>
            <p:cNvSpPr/>
            <p:nvPr/>
          </p:nvSpPr>
          <p:spPr>
            <a:xfrm>
              <a:off x="13242" y="8214"/>
              <a:ext cx="409" cy="313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99060" y="6002020"/>
            <a:ext cx="7044690" cy="678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/>
              <a:t>数据流</a:t>
            </a:r>
            <a:r>
              <a:rPr lang="en-US" altLang="zh-CN" sz="2000"/>
              <a:t>：</a:t>
            </a:r>
            <a:r>
              <a:rPr lang="zh-CN" altLang="en-US" sz="2000"/>
              <a:t>文档预处理</a:t>
            </a:r>
            <a:r>
              <a:rPr lang="en-US" altLang="en-US" sz="2000"/>
              <a:t>→</a:t>
            </a:r>
            <a:r>
              <a:rPr lang="zh-CN" altLang="en-US" sz="2000"/>
              <a:t>关系提取</a:t>
            </a:r>
            <a:r>
              <a:rPr lang="en-US" altLang="en-US" sz="2000"/>
              <a:t>→</a:t>
            </a:r>
            <a:r>
              <a:rPr lang="zh-CN" altLang="en-US" sz="2000"/>
              <a:t>图谱构建</a:t>
            </a:r>
            <a:r>
              <a:rPr lang="en-US" altLang="en-US" sz="2000"/>
              <a:t>→</a:t>
            </a:r>
            <a:r>
              <a:rPr lang="zh-CN" altLang="en-US" sz="2000"/>
              <a:t>检索增强生成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7" y="1134184"/>
            <a:ext cx="12060074" cy="5514768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265430" y="199390"/>
            <a:ext cx="5669544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altLang="zh-CN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2.</a:t>
            </a:r>
            <a:r>
              <a:rPr 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2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文档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处理与知识构建模块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pic>
        <p:nvPicPr>
          <p:cNvPr id="341" name="Picture 12" descr="https://p3-flow-imagex-sign.byteimg.com/tos-cn-i-a9rns2rl98/rc_gen_image/0a0a782b6a4e4338ab746837a10111a5.jpeg~tplv-a9rns2rl98-downsize_watermark_1_5_b.png?lk3s=8e244e95&amp;rcl=202603141733013B1EB84F7E92596D9061&amp;rrcfp=827586d3&amp;x-expires=2088840799&amp;x-signature=fFzPHstqVMet5N67ec4pIdsUnoM%3D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20" r="9762"/>
          <a:stretch/>
        </p:blipFill>
        <p:spPr bwMode="auto">
          <a:xfrm>
            <a:off x="1462190" y="2396620"/>
            <a:ext cx="700712" cy="51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2" name="图片 34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19" y="2397832"/>
            <a:ext cx="475529" cy="512108"/>
          </a:xfrm>
          <a:prstGeom prst="rect">
            <a:avLst/>
          </a:prstGeom>
        </p:spPr>
      </p:pic>
      <p:sp>
        <p:nvSpPr>
          <p:cNvPr id="343" name="文本框 342"/>
          <p:cNvSpPr txBox="1"/>
          <p:nvPr/>
        </p:nvSpPr>
        <p:spPr>
          <a:xfrm>
            <a:off x="900083" y="2908728"/>
            <a:ext cx="1933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动态图数据库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Abution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Graph</a:t>
            </a:r>
          </a:p>
          <a:p>
            <a:pPr algn="ctr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知识存储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2464486" y="2888695"/>
            <a:ext cx="1933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关系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数据库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MySQL</a:t>
            </a:r>
          </a:p>
          <a:p>
            <a:pPr algn="ctr"/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运行数据存储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58" y="1164157"/>
            <a:ext cx="3584759" cy="1170533"/>
          </a:xfrm>
          <a:prstGeom prst="rect">
            <a:avLst/>
          </a:prstGeom>
        </p:spPr>
      </p:pic>
      <p:sp>
        <p:nvSpPr>
          <p:cNvPr id="379" name="下箭头 378"/>
          <p:cNvSpPr/>
          <p:nvPr/>
        </p:nvSpPr>
        <p:spPr>
          <a:xfrm>
            <a:off x="2375868" y="2174650"/>
            <a:ext cx="485140" cy="443939"/>
          </a:xfrm>
          <a:prstGeom prst="downArrow">
            <a:avLst/>
          </a:prstGeom>
          <a:solidFill>
            <a:srgbClr val="5DAA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132042" y="1168281"/>
            <a:ext cx="2741456" cy="369332"/>
          </a:xfrm>
          <a:prstGeom prst="rect">
            <a:avLst/>
          </a:prstGeom>
          <a:solidFill>
            <a:srgbClr val="DAE3F5"/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知识预处理与构建工作流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5"/>
          <p:cNvSpPr txBox="1"/>
          <p:nvPr/>
        </p:nvSpPr>
        <p:spPr>
          <a:xfrm>
            <a:off x="1300480" y="327649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200" dirty="0">
              <a:solidFill>
                <a:srgbClr val="70388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5429" y="199390"/>
            <a:ext cx="7023891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altLang="zh-CN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2.2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教学大纲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构建与教学资源创作模块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967990" y="4528185"/>
            <a:ext cx="6906260" cy="490855"/>
            <a:chOff x="2346" y="8773"/>
            <a:chExt cx="9442" cy="1136"/>
          </a:xfrm>
        </p:grpSpPr>
        <p:sp>
          <p:nvSpPr>
            <p:cNvPr id="2" name="箭头: V 形 6"/>
            <p:cNvSpPr/>
            <p:nvPr/>
          </p:nvSpPr>
          <p:spPr>
            <a:xfrm>
              <a:off x="2346" y="8773"/>
              <a:ext cx="4969" cy="1137"/>
            </a:xfrm>
            <a:prstGeom prst="chevron">
              <a:avLst/>
            </a:prstGeom>
            <a:solidFill>
              <a:srgbClr val="E2F2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solidFill>
                    <a:schemeClr val="tx1"/>
                  </a:solidFill>
                  <a:latin typeface="思源黑体 CN Medium" pitchFamily="34" charset="-122"/>
                  <a:ea typeface="思源黑体 CN Medium" pitchFamily="34" charset="-122"/>
                  <a:cs typeface="思源黑体 CN Medium" pitchFamily="34" charset="-122"/>
                </a:rPr>
                <a:t>需求对齐阶段</a:t>
              </a:r>
            </a:p>
          </p:txBody>
        </p:sp>
        <p:sp>
          <p:nvSpPr>
            <p:cNvPr id="4" name="箭头: V 形 6"/>
            <p:cNvSpPr/>
            <p:nvPr/>
          </p:nvSpPr>
          <p:spPr>
            <a:xfrm>
              <a:off x="6820" y="8773"/>
              <a:ext cx="4969" cy="1137"/>
            </a:xfrm>
            <a:prstGeom prst="chevron">
              <a:avLst/>
            </a:prstGeom>
            <a:solidFill>
              <a:srgbClr val="5DAAE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>
                  <a:solidFill>
                    <a:schemeClr val="tx1"/>
                  </a:solidFill>
                  <a:latin typeface="思源黑体 CN Medium" pitchFamily="34" charset="-122"/>
                  <a:ea typeface="思源黑体 CN Medium" pitchFamily="34" charset="-122"/>
                  <a:cs typeface="思源黑体 CN Medium" pitchFamily="34" charset="-122"/>
                </a:rPr>
                <a:t>定向创作阶段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103798" y="5119945"/>
            <a:ext cx="5746906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教师可选择指定周次的教学大纲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生成试卷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生成后的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资源能够被推荐给提问的同学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支持教师二次编辑与复用</a:t>
            </a:r>
          </a:p>
        </p:txBody>
      </p:sp>
      <p:pic>
        <p:nvPicPr>
          <p:cNvPr id="8" name="图片 7" descr="截屏2026-03-22 21.19.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4522" y="5660228"/>
            <a:ext cx="603250" cy="461645"/>
          </a:xfrm>
          <a:prstGeom prst="rect">
            <a:avLst/>
          </a:prstGeom>
        </p:spPr>
      </p:pic>
      <p:pic>
        <p:nvPicPr>
          <p:cNvPr id="11" name="图片 10" descr="fOlYHQh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9291" y="5150958"/>
            <a:ext cx="468630" cy="461010"/>
          </a:xfrm>
          <a:prstGeom prst="rect">
            <a:avLst/>
          </a:prstGeom>
        </p:spPr>
      </p:pic>
      <p:pic>
        <p:nvPicPr>
          <p:cNvPr id="13" name="图片 12" descr="截屏2026-03-22 21.24.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3264" y="6201985"/>
            <a:ext cx="400685" cy="398780"/>
          </a:xfrm>
          <a:prstGeom prst="rect">
            <a:avLst/>
          </a:prstGeom>
        </p:spPr>
      </p:pic>
      <p:sp>
        <p:nvSpPr>
          <p:cNvPr id="15" name="矩形: 圆角 4"/>
          <p:cNvSpPr/>
          <p:nvPr>
            <p:custDataLst>
              <p:tags r:id="rId2"/>
            </p:custDataLst>
          </p:nvPr>
        </p:nvSpPr>
        <p:spPr>
          <a:xfrm>
            <a:off x="2309628" y="5150958"/>
            <a:ext cx="6704977" cy="1529715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282260" y="921004"/>
            <a:ext cx="11560789" cy="3300635"/>
            <a:chOff x="606903" y="20535"/>
            <a:chExt cx="7785257" cy="2222711"/>
          </a:xfrm>
        </p:grpSpPr>
        <p:sp>
          <p:nvSpPr>
            <p:cNvPr id="63" name="圆角矩形 62"/>
            <p:cNvSpPr/>
            <p:nvPr/>
          </p:nvSpPr>
          <p:spPr>
            <a:xfrm>
              <a:off x="606903" y="45720"/>
              <a:ext cx="7785257" cy="2172341"/>
            </a:xfrm>
            <a:prstGeom prst="roundRect">
              <a:avLst>
                <a:gd name="adj" fmla="val 4039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995680" y="108373"/>
              <a:ext cx="7299960" cy="2020147"/>
            </a:xfrm>
            <a:prstGeom prst="roundRect">
              <a:avLst>
                <a:gd name="adj" fmla="val 283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7391" y="165458"/>
              <a:ext cx="7121964" cy="2062764"/>
            </a:xfrm>
            <a:prstGeom prst="rect">
              <a:avLst/>
            </a:prstGeom>
          </p:spPr>
        </p:pic>
        <p:sp>
          <p:nvSpPr>
            <p:cNvPr id="66" name="文本框 65"/>
            <p:cNvSpPr txBox="1"/>
            <p:nvPr/>
          </p:nvSpPr>
          <p:spPr>
            <a:xfrm>
              <a:off x="684790" y="20535"/>
              <a:ext cx="310894" cy="222271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b="1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教师端创作与管理工作流</a:t>
              </a:r>
              <a:endParaRPr lang="zh-CN" altLang="en-US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265430" y="199390"/>
            <a:ext cx="56781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altLang="zh-CN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2.3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学生诊断辅导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模块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8839281" y="1177013"/>
            <a:ext cx="2913601" cy="4934310"/>
            <a:chOff x="9123050" y="1306977"/>
            <a:chExt cx="2913601" cy="4934310"/>
          </a:xfrm>
        </p:grpSpPr>
        <p:cxnSp>
          <p:nvCxnSpPr>
            <p:cNvPr id="13" name="直接箭头连接符 12"/>
            <p:cNvCxnSpPr/>
            <p:nvPr/>
          </p:nvCxnSpPr>
          <p:spPr>
            <a:xfrm flipH="1">
              <a:off x="10465382" y="1306977"/>
              <a:ext cx="25879" cy="49343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0478321" y="1988464"/>
              <a:ext cx="4011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10478321" y="3124275"/>
              <a:ext cx="4011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10478321" y="4237083"/>
              <a:ext cx="4011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10464662" y="5237160"/>
              <a:ext cx="4011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椭圆 114"/>
            <p:cNvSpPr/>
            <p:nvPr/>
          </p:nvSpPr>
          <p:spPr>
            <a:xfrm>
              <a:off x="9921222" y="1802996"/>
              <a:ext cx="388189" cy="3709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9905845" y="2938807"/>
              <a:ext cx="388189" cy="3709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9907586" y="5032277"/>
              <a:ext cx="388189" cy="37093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123050" y="4053788"/>
              <a:ext cx="940917" cy="34051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14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当前周    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11069231" y="1802996"/>
              <a:ext cx="923026" cy="370936"/>
            </a:xfrm>
            <a:prstGeom prst="roundRect">
              <a:avLst/>
            </a:prstGeom>
            <a:solidFill>
              <a:srgbClr val="AFDC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圆角矩形 117"/>
            <p:cNvSpPr/>
            <p:nvPr/>
          </p:nvSpPr>
          <p:spPr>
            <a:xfrm>
              <a:off x="11069231" y="2951747"/>
              <a:ext cx="923026" cy="3709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9" name="圆角矩形 118"/>
            <p:cNvSpPr/>
            <p:nvPr/>
          </p:nvSpPr>
          <p:spPr>
            <a:xfrm>
              <a:off x="11069231" y="4051982"/>
              <a:ext cx="923026" cy="37093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圆角矩形 119"/>
            <p:cNvSpPr/>
            <p:nvPr/>
          </p:nvSpPr>
          <p:spPr>
            <a:xfrm>
              <a:off x="11069231" y="5032277"/>
              <a:ext cx="923026" cy="370936"/>
            </a:xfrm>
            <a:prstGeom prst="roundRect">
              <a:avLst/>
            </a:prstGeom>
            <a:solidFill>
              <a:srgbClr val="FD9D9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1024836" y="2951747"/>
              <a:ext cx="101181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基本达标</a:t>
              </a: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1128229" y="1802996"/>
              <a:ext cx="80502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已掌握</a:t>
              </a:r>
            </a:p>
          </p:txBody>
        </p:sp>
        <p:sp>
          <p:nvSpPr>
            <p:cNvPr id="122" name="矩形 121"/>
            <p:cNvSpPr/>
            <p:nvPr/>
          </p:nvSpPr>
          <p:spPr>
            <a:xfrm>
              <a:off x="11125155" y="5032277"/>
              <a:ext cx="8050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待巩固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11024836" y="4068116"/>
              <a:ext cx="101181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尚未开始</a:t>
              </a:r>
              <a:endPara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9896757" y="4032683"/>
              <a:ext cx="388189" cy="37093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4" name="圆角矩形 123"/>
          <p:cNvSpPr/>
          <p:nvPr/>
        </p:nvSpPr>
        <p:spPr>
          <a:xfrm>
            <a:off x="2495344" y="4715220"/>
            <a:ext cx="751978" cy="1458411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楷体" panose="02010609060101010101" pitchFamily="49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2549402" y="4677067"/>
            <a:ext cx="852588" cy="838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掌握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情况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26" name="Picture 4" descr="Date - Free interface icon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48" y="5491046"/>
            <a:ext cx="593550" cy="54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矩形 126"/>
          <p:cNvSpPr/>
          <p:nvPr/>
        </p:nvSpPr>
        <p:spPr>
          <a:xfrm>
            <a:off x="2698918" y="5756394"/>
            <a:ext cx="349807" cy="2291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8" name="文本框 127"/>
          <p:cNvSpPr txBox="1"/>
          <p:nvPr/>
        </p:nvSpPr>
        <p:spPr>
          <a:xfrm>
            <a:off x="2759537" y="5672999"/>
            <a:ext cx="268604" cy="391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!</a:t>
            </a:r>
            <a:endParaRPr lang="zh-CN" altLang="en-US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120813" y="5469286"/>
            <a:ext cx="3246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图片 129" descr="截屏2026-03-14 15.37.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89" y="5024378"/>
            <a:ext cx="522178" cy="622358"/>
          </a:xfrm>
          <a:prstGeom prst="rect">
            <a:avLst/>
          </a:prstGeom>
        </p:spPr>
      </p:pic>
      <p:sp>
        <p:nvSpPr>
          <p:cNvPr id="133" name="矩形 132"/>
          <p:cNvSpPr/>
          <p:nvPr/>
        </p:nvSpPr>
        <p:spPr>
          <a:xfrm>
            <a:off x="1054183" y="5289815"/>
            <a:ext cx="1003364" cy="358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主动记录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1065335" y="5248507"/>
            <a:ext cx="945647" cy="48507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3644787" y="4811840"/>
            <a:ext cx="945647" cy="48507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cxnSp>
        <p:nvCxnSpPr>
          <p:cNvPr id="137" name="直接箭头连接符 136"/>
          <p:cNvCxnSpPr/>
          <p:nvPr/>
        </p:nvCxnSpPr>
        <p:spPr>
          <a:xfrm flipH="1">
            <a:off x="3262182" y="5038180"/>
            <a:ext cx="3202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/>
          <p:cNvSpPr/>
          <p:nvPr/>
        </p:nvSpPr>
        <p:spPr>
          <a:xfrm>
            <a:off x="3615928" y="4851740"/>
            <a:ext cx="1003365" cy="358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遗忘阈值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3640774" y="5626244"/>
            <a:ext cx="1488106" cy="48507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3518868" y="5666395"/>
            <a:ext cx="16877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学生提问情况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9005190" y="6127457"/>
            <a:ext cx="235140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学生个人大纲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5833430" y="4619504"/>
            <a:ext cx="945648" cy="48507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5810530" y="4682572"/>
            <a:ext cx="10118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提问内容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6943001" y="4620312"/>
            <a:ext cx="945648" cy="48507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6920101" y="4683380"/>
            <a:ext cx="10118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教学日历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5827502" y="5655660"/>
            <a:ext cx="2078519" cy="48507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150" name="下箭头 149"/>
          <p:cNvSpPr/>
          <p:nvPr/>
        </p:nvSpPr>
        <p:spPr>
          <a:xfrm>
            <a:off x="6679496" y="5167292"/>
            <a:ext cx="374530" cy="426421"/>
          </a:xfrm>
          <a:prstGeom prst="downArrow">
            <a:avLst/>
          </a:prstGeom>
          <a:solidFill>
            <a:srgbClr val="6AACDC"/>
          </a:solidFill>
          <a:ln>
            <a:solidFill>
              <a:srgbClr val="6AAC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72470" y="518067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周次定位</a:t>
            </a:r>
            <a:endParaRPr lang="zh-CN" altLang="en-US" dirty="0"/>
          </a:p>
        </p:txBody>
      </p:sp>
      <p:sp>
        <p:nvSpPr>
          <p:cNvPr id="152" name="矩形 151"/>
          <p:cNvSpPr/>
          <p:nvPr/>
        </p:nvSpPr>
        <p:spPr>
          <a:xfrm>
            <a:off x="6154065" y="5728922"/>
            <a:ext cx="14253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提问质量评估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4" name="下箭头 153"/>
          <p:cNvSpPr/>
          <p:nvPr/>
        </p:nvSpPr>
        <p:spPr>
          <a:xfrm rot="5400000">
            <a:off x="5310796" y="5684990"/>
            <a:ext cx="374530" cy="426421"/>
          </a:xfrm>
          <a:prstGeom prst="downArrow">
            <a:avLst/>
          </a:prstGeom>
          <a:solidFill>
            <a:srgbClr val="6AACDC"/>
          </a:solidFill>
          <a:ln>
            <a:solidFill>
              <a:srgbClr val="6AAC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558879" y="982762"/>
            <a:ext cx="7456310" cy="3350877"/>
            <a:chOff x="651775" y="2248905"/>
            <a:chExt cx="4796576" cy="2155589"/>
          </a:xfrm>
        </p:grpSpPr>
        <p:grpSp>
          <p:nvGrpSpPr>
            <p:cNvPr id="156" name="组合 155"/>
            <p:cNvGrpSpPr/>
            <p:nvPr/>
          </p:nvGrpSpPr>
          <p:grpSpPr>
            <a:xfrm>
              <a:off x="651775" y="2272171"/>
              <a:ext cx="4796576" cy="2079382"/>
              <a:chOff x="-100902" y="2066178"/>
              <a:chExt cx="8034129" cy="2172341"/>
            </a:xfrm>
          </p:grpSpPr>
          <p:sp>
            <p:nvSpPr>
              <p:cNvPr id="159" name="圆角矩形 158"/>
              <p:cNvSpPr/>
              <p:nvPr/>
            </p:nvSpPr>
            <p:spPr>
              <a:xfrm>
                <a:off x="-100902" y="2066178"/>
                <a:ext cx="8034129" cy="2172341"/>
              </a:xfrm>
              <a:prstGeom prst="roundRect">
                <a:avLst>
                  <a:gd name="adj" fmla="val 4039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圆角矩形 159"/>
              <p:cNvSpPr/>
              <p:nvPr/>
            </p:nvSpPr>
            <p:spPr>
              <a:xfrm>
                <a:off x="502301" y="2098611"/>
                <a:ext cx="7133507" cy="2048411"/>
              </a:xfrm>
              <a:prstGeom prst="roundRect">
                <a:avLst>
                  <a:gd name="adj" fmla="val 2836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57" name="图片 15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7500" y="2351371"/>
              <a:ext cx="4066809" cy="1977912"/>
            </a:xfrm>
            <a:prstGeom prst="rect">
              <a:avLst/>
            </a:prstGeom>
          </p:spPr>
        </p:pic>
        <p:sp>
          <p:nvSpPr>
            <p:cNvPr id="158" name="文本框 157"/>
            <p:cNvSpPr txBox="1"/>
            <p:nvPr/>
          </p:nvSpPr>
          <p:spPr>
            <a:xfrm>
              <a:off x="696049" y="2248905"/>
              <a:ext cx="316784" cy="215558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学生端学习与询问工作流</a:t>
              </a:r>
              <a:endPara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cxnSp>
        <p:nvCxnSpPr>
          <p:cNvPr id="161" name="直接箭头连接符 160"/>
          <p:cNvCxnSpPr/>
          <p:nvPr/>
        </p:nvCxnSpPr>
        <p:spPr>
          <a:xfrm flipH="1">
            <a:off x="3262183" y="5810582"/>
            <a:ext cx="32024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本框 161"/>
          <p:cNvSpPr txBox="1"/>
          <p:nvPr/>
        </p:nvSpPr>
        <p:spPr>
          <a:xfrm>
            <a:off x="3223115" y="6303911"/>
            <a:ext cx="279235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掌握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情况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更新流程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63" name="矩形: 圆角 4"/>
          <p:cNvSpPr/>
          <p:nvPr>
            <p:custDataLst>
              <p:tags r:id="rId2"/>
            </p:custDataLst>
          </p:nvPr>
        </p:nvSpPr>
        <p:spPr>
          <a:xfrm>
            <a:off x="444989" y="4464313"/>
            <a:ext cx="7570200" cy="1839598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5"/>
          <p:cNvSpPr txBox="1"/>
          <p:nvPr/>
        </p:nvSpPr>
        <p:spPr>
          <a:xfrm>
            <a:off x="1300480" y="327649"/>
            <a:ext cx="9233879" cy="6635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3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200" dirty="0">
              <a:solidFill>
                <a:srgbClr val="70388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65430" y="199390"/>
            <a:ext cx="42557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3</a:t>
            </a:r>
            <a:r>
              <a:rPr lang="en-US" altLang="zh-CN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创新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点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grpSp>
        <p:nvGrpSpPr>
          <p:cNvPr id="232" name="组合 231"/>
          <p:cNvGrpSpPr/>
          <p:nvPr/>
        </p:nvGrpSpPr>
        <p:grpSpPr>
          <a:xfrm>
            <a:off x="455430" y="1010274"/>
            <a:ext cx="11230084" cy="5248366"/>
            <a:chOff x="789685" y="452778"/>
            <a:chExt cx="10134705" cy="4736442"/>
          </a:xfrm>
        </p:grpSpPr>
        <p:sp>
          <p:nvSpPr>
            <p:cNvPr id="233" name="文本框 232"/>
            <p:cNvSpPr txBox="1"/>
            <p:nvPr/>
          </p:nvSpPr>
          <p:spPr>
            <a:xfrm>
              <a:off x="993315" y="45277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功能创新</a:t>
              </a:r>
            </a:p>
          </p:txBody>
        </p:sp>
        <p:sp>
          <p:nvSpPr>
            <p:cNvPr id="234" name="圆角矩形 233"/>
            <p:cNvSpPr/>
            <p:nvPr/>
          </p:nvSpPr>
          <p:spPr>
            <a:xfrm>
              <a:off x="899160" y="850610"/>
              <a:ext cx="5631309" cy="1850995"/>
            </a:xfrm>
            <a:prstGeom prst="roundRect">
              <a:avLst>
                <a:gd name="adj" fmla="val 8245"/>
              </a:avLst>
            </a:prstGeom>
            <a:solidFill>
              <a:srgbClr val="4874CB">
                <a:lumMod val="20000"/>
                <a:lumOff val="80000"/>
              </a:srgbClr>
            </a:soli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35" name="圆角矩形 234"/>
            <p:cNvSpPr/>
            <p:nvPr/>
          </p:nvSpPr>
          <p:spPr>
            <a:xfrm>
              <a:off x="1082117" y="1338411"/>
              <a:ext cx="2101984" cy="1167255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36" name="矩形 235"/>
            <p:cNvSpPr/>
            <p:nvPr/>
          </p:nvSpPr>
          <p:spPr>
            <a:xfrm>
              <a:off x="1152776" y="1317231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预处理与清洗阶段</a:t>
              </a:r>
            </a:p>
          </p:txBody>
        </p:sp>
        <p:sp>
          <p:nvSpPr>
            <p:cNvPr id="237" name="圆角矩形 236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1168110" y="1704168"/>
              <a:ext cx="1939947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多模态文档内容提取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38" name="圆角矩形 237"/>
            <p:cNvSpPr/>
            <p:nvPr/>
          </p:nvSpPr>
          <p:spPr>
            <a:xfrm>
              <a:off x="3621557" y="1338410"/>
              <a:ext cx="2748418" cy="1167255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39" name="矩形 238"/>
            <p:cNvSpPr/>
            <p:nvPr/>
          </p:nvSpPr>
          <p:spPr>
            <a:xfrm>
              <a:off x="4019735" y="131723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关系对象构建阶段</a:t>
              </a:r>
            </a:p>
          </p:txBody>
        </p:sp>
        <p:sp>
          <p:nvSpPr>
            <p:cNvPr id="240" name="圆角矩形 239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3706693" y="1704170"/>
              <a:ext cx="2577106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LLM</a:t>
              </a:r>
              <a:r>
                <a:rPr kumimoji="0" lang="zh-CN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关系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提取</a:t>
              </a:r>
            </a:p>
          </p:txBody>
        </p:sp>
        <p:pic>
          <p:nvPicPr>
            <p:cNvPr id="241" name="Picture 8" descr="High performance - Free business and finance icons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2761" y="2021308"/>
              <a:ext cx="572358" cy="572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2" name="加号 241"/>
            <p:cNvSpPr/>
            <p:nvPr/>
          </p:nvSpPr>
          <p:spPr>
            <a:xfrm>
              <a:off x="3237783" y="1673922"/>
              <a:ext cx="336532" cy="317139"/>
            </a:xfrm>
            <a:prstGeom prst="mathPlus">
              <a:avLst/>
            </a:prstGeom>
            <a:solidFill>
              <a:srgbClr val="FFFFFF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43" name="矩形 242"/>
            <p:cNvSpPr/>
            <p:nvPr/>
          </p:nvSpPr>
          <p:spPr>
            <a:xfrm>
              <a:off x="2039605" y="877758"/>
              <a:ext cx="36471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文档处理与关系提取调度管理系统</a:t>
              </a:r>
            </a:p>
          </p:txBody>
        </p:sp>
        <p:sp>
          <p:nvSpPr>
            <p:cNvPr id="244" name="圆角矩形 243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3706693" y="2081837"/>
              <a:ext cx="2577106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BM25-Vec-</a:t>
              </a:r>
              <a:r>
                <a:rPr kumimoji="0" lang="zh-CN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时序索引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构建</a:t>
              </a:r>
            </a:p>
          </p:txBody>
        </p:sp>
        <p:pic>
          <p:nvPicPr>
            <p:cNvPr id="245" name="图片 244"/>
            <p:cNvPicPr>
              <a:picLocks noChangeAspect="1"/>
            </p:cNvPicPr>
            <p:nvPr/>
          </p:nvPicPr>
          <p:blipFill>
            <a:blip r:embed="rId7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369" y="2188153"/>
              <a:ext cx="743696" cy="743696"/>
            </a:xfrm>
            <a:prstGeom prst="rect">
              <a:avLst/>
            </a:prstGeom>
          </p:spPr>
        </p:pic>
        <p:pic>
          <p:nvPicPr>
            <p:cNvPr id="246" name="图片 245"/>
            <p:cNvPicPr>
              <a:picLocks noChangeAspect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75BD42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3162" y="1996625"/>
              <a:ext cx="628554" cy="628554"/>
            </a:xfrm>
            <a:prstGeom prst="rect">
              <a:avLst/>
            </a:prstGeom>
          </p:spPr>
        </p:pic>
        <p:sp>
          <p:nvSpPr>
            <p:cNvPr id="247" name="圆角矩形 246"/>
            <p:cNvSpPr/>
            <p:nvPr/>
          </p:nvSpPr>
          <p:spPr>
            <a:xfrm>
              <a:off x="3761962" y="2979890"/>
              <a:ext cx="2736604" cy="2209330"/>
            </a:xfrm>
            <a:prstGeom prst="roundRect">
              <a:avLst>
                <a:gd name="adj" fmla="val 8695"/>
              </a:avLst>
            </a:prstGeom>
            <a:solidFill>
              <a:srgbClr val="EE822F">
                <a:lumMod val="20000"/>
                <a:lumOff val="80000"/>
              </a:srgbClr>
            </a:solidFill>
            <a:ln w="12700" cap="flat" cmpd="sng" algn="ctr">
              <a:solidFill>
                <a:srgbClr val="4874C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48" name="文本框 247"/>
            <p:cNvSpPr txBox="1"/>
            <p:nvPr/>
          </p:nvSpPr>
          <p:spPr>
            <a:xfrm>
              <a:off x="3826340" y="2980297"/>
              <a:ext cx="2614558" cy="638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zh-CN" altLang="en-US" sz="2000" b="1" kern="0" dirty="0" smtClean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基于</a:t>
              </a:r>
              <a:r>
                <a:rPr lang="zh-CN" altLang="en-US" sz="2000" b="1" kern="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证据</a:t>
              </a:r>
              <a:r>
                <a:rPr lang="en-US" altLang="zh-CN" sz="2000" b="1" kern="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-</a:t>
              </a:r>
              <a:r>
                <a:rPr lang="zh-CN" altLang="en-US" sz="2000" b="1" kern="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路径</a:t>
              </a:r>
              <a:r>
                <a:rPr lang="en-US" altLang="zh-CN" sz="2000" b="1" kern="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-</a:t>
              </a:r>
              <a:r>
                <a:rPr lang="zh-CN" altLang="en-US" sz="2000" b="1" kern="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教学进度的</a:t>
              </a:r>
              <a:r>
                <a:rPr lang="zh-CN" altLang="en-US" sz="2000" b="1" kern="0" dirty="0" smtClean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多路</a:t>
              </a:r>
              <a:r>
                <a:rPr lang="zh-CN" altLang="en-US" sz="2000" b="1" kern="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融合检索框架</a:t>
              </a:r>
              <a:endPara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9" name="圆角矩形 248"/>
            <p:cNvSpPr/>
            <p:nvPr/>
          </p:nvSpPr>
          <p:spPr>
            <a:xfrm>
              <a:off x="3935407" y="3639598"/>
              <a:ext cx="2422927" cy="1441079"/>
            </a:xfrm>
            <a:prstGeom prst="roundRect">
              <a:avLst>
                <a:gd name="adj" fmla="val 6108"/>
              </a:avLst>
            </a:prstGeom>
            <a:solidFill>
              <a:srgbClr val="FAFAFA"/>
            </a:solidFill>
            <a:ln w="12700" cap="flat" cmpd="sng" algn="ctr">
              <a:solidFill>
                <a:srgbClr val="4874CB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50" name="矩形 249"/>
            <p:cNvSpPr/>
            <p:nvPr/>
          </p:nvSpPr>
          <p:spPr>
            <a:xfrm>
              <a:off x="3911276" y="3624566"/>
              <a:ext cx="2134093" cy="3610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五路检索流程</a:t>
              </a:r>
              <a:r>
                <a:rPr kumimoji="0" lang="en-US" altLang="zh-CN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+</a:t>
              </a:r>
              <a:r>
                <a:rPr kumimoji="0" lang="zh-CN" alt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大纲</a:t>
              </a:r>
            </a:p>
          </p:txBody>
        </p:sp>
        <p:pic>
          <p:nvPicPr>
            <p:cNvPr id="251" name="图片 250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3179" y="3682269"/>
              <a:ext cx="325472" cy="343654"/>
            </a:xfrm>
            <a:prstGeom prst="rect">
              <a:avLst/>
            </a:prstGeom>
          </p:spPr>
        </p:pic>
        <p:sp>
          <p:nvSpPr>
            <p:cNvPr id="252" name="文本框 251"/>
            <p:cNvSpPr txBox="1"/>
            <p:nvPr/>
          </p:nvSpPr>
          <p:spPr>
            <a:xfrm>
              <a:off x="7487345" y="50189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技术创新</a:t>
              </a:r>
            </a:p>
          </p:txBody>
        </p:sp>
        <p:grpSp>
          <p:nvGrpSpPr>
            <p:cNvPr id="253" name="组合 252"/>
            <p:cNvGrpSpPr/>
            <p:nvPr/>
          </p:nvGrpSpPr>
          <p:grpSpPr>
            <a:xfrm>
              <a:off x="7397774" y="850610"/>
              <a:ext cx="3526616" cy="4338610"/>
              <a:chOff x="7192034" y="1551650"/>
              <a:chExt cx="3526616" cy="4338610"/>
            </a:xfrm>
          </p:grpSpPr>
          <p:sp>
            <p:nvSpPr>
              <p:cNvPr id="273" name="圆角矩形 272"/>
              <p:cNvSpPr/>
              <p:nvPr/>
            </p:nvSpPr>
            <p:spPr>
              <a:xfrm>
                <a:off x="7192034" y="1551650"/>
                <a:ext cx="3526616" cy="4338610"/>
              </a:xfrm>
              <a:prstGeom prst="roundRect">
                <a:avLst>
                  <a:gd name="adj" fmla="val 3609"/>
                </a:avLst>
              </a:prstGeom>
              <a:solidFill>
                <a:srgbClr val="4874CB">
                  <a:lumMod val="20000"/>
                  <a:lumOff val="80000"/>
                </a:srgbClr>
              </a:solidFill>
              <a:ln w="1270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苹方-简"/>
                </a:endParaRPr>
              </a:p>
            </p:txBody>
          </p:sp>
          <p:sp>
            <p:nvSpPr>
              <p:cNvPr id="274" name="文本框 273"/>
              <p:cNvSpPr txBox="1"/>
              <p:nvPr/>
            </p:nvSpPr>
            <p:spPr>
              <a:xfrm>
                <a:off x="7398415" y="1658220"/>
                <a:ext cx="316963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zh-CN" altLang="en-US" sz="2000" b="1" kern="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基于动态图知识库的时序知识图谱动态演化架构</a:t>
                </a:r>
              </a:p>
            </p:txBody>
          </p:sp>
          <p:sp>
            <p:nvSpPr>
              <p:cNvPr id="275" name="圆角矩形 274"/>
              <p:cNvSpPr/>
              <p:nvPr/>
            </p:nvSpPr>
            <p:spPr>
              <a:xfrm>
                <a:off x="7368319" y="2365301"/>
                <a:ext cx="3169638" cy="3204919"/>
              </a:xfrm>
              <a:prstGeom prst="roundRect">
                <a:avLst>
                  <a:gd name="adj" fmla="val 6108"/>
                </a:avLst>
              </a:prstGeom>
              <a:solidFill>
                <a:srgbClr val="FAFAFA"/>
              </a:solidFill>
              <a:ln w="12700" cap="flat" cmpd="sng" algn="ctr">
                <a:solidFill>
                  <a:srgbClr val="4874CB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苹方-简"/>
                </a:endParaRPr>
              </a:p>
            </p:txBody>
          </p:sp>
          <p:pic>
            <p:nvPicPr>
              <p:cNvPr id="276" name="图片 275"/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353535">
                      <a:alpha val="20784"/>
                    </a:srgbClr>
                  </a:clrFrom>
                  <a:clrTo>
                    <a:srgbClr val="353535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05912" y="2950166"/>
                <a:ext cx="777322" cy="20407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" name="图片 276"/>
              <p:cNvPicPr>
                <a:picLocks noChangeAspect="1"/>
              </p:cNvPicPr>
              <p:nvPr/>
            </p:nvPicPr>
            <p:blipFill>
              <a:blip r:embed="rId12">
                <a:clrChange>
                  <a:clrFrom>
                    <a:srgbClr val="030303">
                      <a:alpha val="1176"/>
                    </a:srgbClr>
                  </a:clrFrom>
                  <a:clrTo>
                    <a:srgbClr val="030303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76305" y="2978226"/>
                <a:ext cx="764032" cy="2012707"/>
              </a:xfrm>
              <a:prstGeom prst="rect">
                <a:avLst/>
              </a:prstGeom>
            </p:spPr>
          </p:pic>
          <p:pic>
            <p:nvPicPr>
              <p:cNvPr id="278" name="Picture 2" descr="Database, chart, graph, chain icon - Download on Iconfinder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91390" y="3039526"/>
                <a:ext cx="614661" cy="6489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9" name="右箭头 278"/>
              <p:cNvSpPr/>
              <p:nvPr/>
            </p:nvSpPr>
            <p:spPr>
              <a:xfrm>
                <a:off x="9074045" y="3246806"/>
                <a:ext cx="405867" cy="113036"/>
              </a:xfrm>
              <a:prstGeom prst="rightArrow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>
                    <a:shade val="50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苹方-简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7663251" y="2520156"/>
                <a:ext cx="2545562" cy="361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实体</a:t>
                </a:r>
                <a:r>
                  <a:rPr kumimoji="0" lang="en-US" altLang="zh-CN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kumimoji="0" lang="zh-CN" alt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索引知识构建</a:t>
                </a:r>
              </a:p>
            </p:txBody>
          </p:sp>
          <p:grpSp>
            <p:nvGrpSpPr>
              <p:cNvPr id="281" name="组合 280"/>
              <p:cNvGrpSpPr/>
              <p:nvPr/>
            </p:nvGrpSpPr>
            <p:grpSpPr>
              <a:xfrm>
                <a:off x="9209088" y="3710678"/>
                <a:ext cx="1059734" cy="985915"/>
                <a:chOff x="5051821" y="3788851"/>
                <a:chExt cx="2118079" cy="1877638"/>
              </a:xfrm>
            </p:grpSpPr>
            <p:pic>
              <p:nvPicPr>
                <p:cNvPr id="288" name="Picture 6" descr="Temporal icons for free download | Freepik"/>
                <p:cNvPicPr>
                  <a:picLocks noChangeAspect="1" noChangeArrowheads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9419" r="25032"/>
                <a:stretch/>
              </p:blipFill>
              <p:spPr bwMode="auto">
                <a:xfrm>
                  <a:off x="5897166" y="3992432"/>
                  <a:ext cx="228601" cy="15522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9" name="Picture 6" descr="Temporal icons for free download | Freepik"/>
                <p:cNvPicPr>
                  <a:picLocks noChangeAspect="1" noChangeArrowheads="1"/>
                </p:cNvPicPr>
                <p:nvPr/>
              </p:nvPicPr>
              <p:blipFill rotWithShape="1">
                <a:blip r:embed="rId15">
                  <a:duotone>
                    <a:prstClr val="black"/>
                    <a:srgbClr val="75BD42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169" b="69145"/>
                <a:stretch/>
              </p:blipFill>
              <p:spPr bwMode="auto">
                <a:xfrm>
                  <a:off x="6104385" y="3788851"/>
                  <a:ext cx="439580" cy="62726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90" name="Picture 6" descr="Temporal icons for free download | Freepik"/>
                <p:cNvPicPr>
                  <a:picLocks noChangeAspect="1" noChangeArrowheads="1"/>
                </p:cNvPicPr>
                <p:nvPr/>
              </p:nvPicPr>
              <p:blipFill rotWithShape="1">
                <a:blip r:embed="rId16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6892" t="69280" r="-21062" b="-17952"/>
                <a:stretch/>
              </p:blipFill>
              <p:spPr bwMode="auto">
                <a:xfrm>
                  <a:off x="6125767" y="5132641"/>
                  <a:ext cx="459525" cy="5338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91" name="Picture 6" descr="Temporal icons for free download | Freepik"/>
                <p:cNvPicPr>
                  <a:picLocks noChangeAspect="1" noChangeArrowheads="1"/>
                </p:cNvPicPr>
                <p:nvPr/>
              </p:nvPicPr>
              <p:blipFill rotWithShape="1"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42518"/>
                <a:stretch/>
              </p:blipFill>
              <p:spPr bwMode="auto">
                <a:xfrm>
                  <a:off x="5051821" y="3992432"/>
                  <a:ext cx="845068" cy="15522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92" name="Picture 6" descr="Temporal icons for free download | Freepik"/>
                <p:cNvPicPr>
                  <a:picLocks noChangeAspect="1" noChangeArrowheads="1"/>
                </p:cNvPicPr>
                <p:nvPr/>
              </p:nvPicPr>
              <p:blipFill rotWithShape="1"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6892" t="69280" r="-21062" b="-17952"/>
                <a:stretch/>
              </p:blipFill>
              <p:spPr bwMode="auto">
                <a:xfrm>
                  <a:off x="6125767" y="4553671"/>
                  <a:ext cx="605098" cy="70296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93" name="文本框 292"/>
                <p:cNvSpPr txBox="1"/>
                <p:nvPr/>
              </p:nvSpPr>
              <p:spPr>
                <a:xfrm>
                  <a:off x="6505291" y="3795728"/>
                  <a:ext cx="664609" cy="5634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1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75BD42">
                          <a:lumMod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新</a:t>
                  </a:r>
                </a:p>
              </p:txBody>
            </p:sp>
            <p:sp>
              <p:nvSpPr>
                <p:cNvPr id="294" name="文本框 293"/>
                <p:cNvSpPr txBox="1"/>
                <p:nvPr/>
              </p:nvSpPr>
              <p:spPr>
                <a:xfrm>
                  <a:off x="6350857" y="5097264"/>
                  <a:ext cx="582559" cy="4695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1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EE822F">
                          <a:lumMod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旧</a:t>
                  </a:r>
                </a:p>
              </p:txBody>
            </p:sp>
          </p:grpSp>
          <p:grpSp>
            <p:nvGrpSpPr>
              <p:cNvPr id="282" name="组合 281"/>
              <p:cNvGrpSpPr/>
              <p:nvPr/>
            </p:nvGrpSpPr>
            <p:grpSpPr>
              <a:xfrm>
                <a:off x="9168815" y="4780724"/>
                <a:ext cx="1332887" cy="561944"/>
                <a:chOff x="4789506" y="849679"/>
                <a:chExt cx="1559133" cy="610590"/>
              </a:xfrm>
            </p:grpSpPr>
            <p:pic>
              <p:nvPicPr>
                <p:cNvPr id="284" name="Picture 12" descr="DOC Vector Icon 33577975 Vector Art at Vecteezy"/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89506" y="849679"/>
                  <a:ext cx="526751" cy="52675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5" name="Picture 16" descr="Equal - free icon"/>
                <p:cNvPicPr>
                  <a:picLocks noChangeAspect="1" noChangeArrowheads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16545" y="965199"/>
                  <a:ext cx="328944" cy="328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6" name="Picture 12" descr="DOC Vector Icon 33577975 Vector Art at Vecteezy"/>
                <p:cNvPicPr>
                  <a:picLocks noChangeAspect="1" noChangeArrowheads="1"/>
                </p:cNvPicPr>
                <p:nvPr/>
              </p:nvPicPr>
              <p:blipFill>
                <a:blip r:embed="rId21" cstate="print">
                  <a:extLst>
                    <a:ext uri="{BEBA8EAE-BF5A-486C-A8C5-ECC9F3942E4B}">
                      <a14:imgProps xmlns:a14="http://schemas.microsoft.com/office/drawing/2010/main">
                        <a14:imgLayer r:embed="rId22">
                          <a14:imgEffect>
                            <a14:artisticPhotocopy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45489" y="849679"/>
                  <a:ext cx="526751" cy="52675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7" name="图片 286"/>
                <p:cNvPicPr>
                  <a:picLocks noChangeAspect="1"/>
                </p:cNvPicPr>
                <p:nvPr/>
              </p:nvPicPr>
              <p:blipFill>
                <a:blip r:embed="rId23" cstate="print">
                  <a:duotone>
                    <a:srgbClr val="E54C5E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8864" y="1020494"/>
                  <a:ext cx="439775" cy="439775"/>
                </a:xfrm>
                <a:prstGeom prst="rect">
                  <a:avLst/>
                </a:prstGeom>
              </p:spPr>
            </p:pic>
          </p:grpSp>
          <p:sp>
            <p:nvSpPr>
              <p:cNvPr id="283" name="矩形 282"/>
              <p:cNvSpPr/>
              <p:nvPr/>
            </p:nvSpPr>
            <p:spPr>
              <a:xfrm>
                <a:off x="9479912" y="5186700"/>
                <a:ext cx="518809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2BA02">
                        <a:lumMod val="7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重复</a:t>
                </a:r>
              </a:p>
            </p:txBody>
          </p:sp>
        </p:grpSp>
        <p:sp>
          <p:nvSpPr>
            <p:cNvPr id="254" name="圆角矩形 253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3994065" y="4035393"/>
              <a:ext cx="623742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向量</a:t>
              </a:r>
            </a:p>
          </p:txBody>
        </p:sp>
        <p:sp>
          <p:nvSpPr>
            <p:cNvPr id="255" name="圆角矩形 254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4720939" y="4035393"/>
              <a:ext cx="816049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关键词</a:t>
              </a:r>
            </a:p>
          </p:txBody>
        </p:sp>
        <p:sp>
          <p:nvSpPr>
            <p:cNvPr id="256" name="圆角矩形 255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5638255" y="4035393"/>
              <a:ext cx="639344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关联</a:t>
              </a:r>
            </a:p>
          </p:txBody>
        </p:sp>
        <p:sp>
          <p:nvSpPr>
            <p:cNvPr id="257" name="圆角矩形 256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4001490" y="4371164"/>
              <a:ext cx="816049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上下文</a:t>
              </a:r>
            </a:p>
          </p:txBody>
        </p:sp>
        <p:sp>
          <p:nvSpPr>
            <p:cNvPr id="258" name="圆角矩形 257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4930118" y="4374658"/>
              <a:ext cx="1369553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多跳推理召回</a:t>
              </a:r>
            </a:p>
          </p:txBody>
        </p:sp>
        <p:sp>
          <p:nvSpPr>
            <p:cNvPr id="259" name="圆角矩形 258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C7C1E267-18B6-A8E0-A52B-4412069EB24A}"/>
                </a:ext>
              </a:extLst>
            </p:cNvPr>
            <p:cNvSpPr/>
            <p:nvPr/>
          </p:nvSpPr>
          <p:spPr>
            <a:xfrm>
              <a:off x="4006497" y="4734775"/>
              <a:ext cx="2271102" cy="256649"/>
            </a:xfrm>
            <a:prstGeom prst="roundRect">
              <a:avLst>
                <a:gd name="adj" fmla="val 50000"/>
              </a:avLst>
            </a:prstGeom>
            <a:solidFill>
              <a:srgbClr val="75BD42">
                <a:lumMod val="20000"/>
                <a:lumOff val="80000"/>
              </a:srgbClr>
            </a:solidFill>
            <a:ln w="12700" cap="flat" cmpd="sng" algn="ctr">
              <a:solidFill>
                <a:srgbClr val="4874CB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RRF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重排序</a:t>
              </a:r>
            </a:p>
          </p:txBody>
        </p:sp>
        <p:sp>
          <p:nvSpPr>
            <p:cNvPr id="260" name="右箭头 259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78C2A04C-CA3C-2A1C-4124-1955187DD486}"/>
                </a:ext>
              </a:extLst>
            </p:cNvPr>
            <p:cNvSpPr/>
            <p:nvPr/>
          </p:nvSpPr>
          <p:spPr>
            <a:xfrm>
              <a:off x="6721833" y="1816415"/>
              <a:ext cx="538449" cy="211244"/>
            </a:xfrm>
            <a:prstGeom prst="rightArrow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61" name="矩形 260"/>
            <p:cNvSpPr/>
            <p:nvPr/>
          </p:nvSpPr>
          <p:spPr>
            <a:xfrm>
              <a:off x="6632658" y="1460588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构建</a:t>
              </a:r>
            </a:p>
          </p:txBody>
        </p:sp>
        <p:sp>
          <p:nvSpPr>
            <p:cNvPr id="262" name="右箭头 261">
              <a:extLst>
                <a:ext uri="{FF2B5EF4-FFF2-40B4-BE49-F238E27FC236}">
                  <a16:creationId xmlns:lc="http://schemas.openxmlformats.org/drawingml/2006/lockedCanvas" xmlns:a16="http://schemas.microsoft.com/office/drawing/2014/main" xmlns="" id="{89BC9458-7CC0-A703-C496-0C5F378F8E9C}"/>
                </a:ext>
              </a:extLst>
            </p:cNvPr>
            <p:cNvSpPr/>
            <p:nvPr/>
          </p:nvSpPr>
          <p:spPr>
            <a:xfrm rot="10800000">
              <a:off x="6694897" y="4067193"/>
              <a:ext cx="538449" cy="211244"/>
            </a:xfrm>
            <a:prstGeom prst="rightArrow">
              <a:avLst/>
            </a:prstGeom>
            <a:solidFill>
              <a:sysClr val="window" lastClr="FFFFFF">
                <a:lumMod val="6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苹方-简"/>
              </a:endParaRPr>
            </a:p>
          </p:txBody>
        </p:sp>
        <p:sp>
          <p:nvSpPr>
            <p:cNvPr id="263" name="矩形 262"/>
            <p:cNvSpPr/>
            <p:nvPr/>
          </p:nvSpPr>
          <p:spPr>
            <a:xfrm>
              <a:off x="6639545" y="4236890"/>
              <a:ext cx="6463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rPr>
                <a:t>支撑</a:t>
              </a:r>
            </a:p>
          </p:txBody>
        </p:sp>
        <p:grpSp>
          <p:nvGrpSpPr>
            <p:cNvPr id="264" name="组合 263"/>
            <p:cNvGrpSpPr/>
            <p:nvPr/>
          </p:nvGrpSpPr>
          <p:grpSpPr>
            <a:xfrm>
              <a:off x="789685" y="2944262"/>
              <a:ext cx="3088756" cy="2244958"/>
              <a:chOff x="789685" y="2944262"/>
              <a:chExt cx="3088756" cy="2244958"/>
            </a:xfrm>
          </p:grpSpPr>
          <p:sp>
            <p:nvSpPr>
              <p:cNvPr id="265" name="圆角矩形 264"/>
              <p:cNvSpPr/>
              <p:nvPr/>
            </p:nvSpPr>
            <p:spPr>
              <a:xfrm>
                <a:off x="865205" y="2979890"/>
                <a:ext cx="2736604" cy="2209330"/>
              </a:xfrm>
              <a:prstGeom prst="roundRect">
                <a:avLst>
                  <a:gd name="adj" fmla="val 8695"/>
                </a:avLst>
              </a:prstGeom>
              <a:solidFill>
                <a:srgbClr val="EE822F">
                  <a:lumMod val="20000"/>
                  <a:lumOff val="80000"/>
                </a:srgbClr>
              </a:solidFill>
              <a:ln w="12700" cap="flat" cmpd="sng" algn="ctr">
                <a:solidFill>
                  <a:srgbClr val="4874C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苹方-简"/>
                </a:endParaRPr>
              </a:p>
            </p:txBody>
          </p:sp>
          <p:sp>
            <p:nvSpPr>
              <p:cNvPr id="266" name="圆角矩形 265"/>
              <p:cNvSpPr/>
              <p:nvPr/>
            </p:nvSpPr>
            <p:spPr>
              <a:xfrm>
                <a:off x="1015704" y="3626221"/>
                <a:ext cx="2422927" cy="1441079"/>
              </a:xfrm>
              <a:prstGeom prst="roundRect">
                <a:avLst>
                  <a:gd name="adj" fmla="val 6108"/>
                </a:avLst>
              </a:prstGeom>
              <a:solidFill>
                <a:srgbClr val="FAFAFA"/>
              </a:solidFill>
              <a:ln w="12700" cap="flat" cmpd="sng" algn="ctr">
                <a:solidFill>
                  <a:srgbClr val="4874CB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苹方-简"/>
                </a:endParaRPr>
              </a:p>
            </p:txBody>
          </p:sp>
          <p:sp>
            <p:nvSpPr>
              <p:cNvPr id="267" name="文本框 266"/>
              <p:cNvSpPr txBox="1"/>
              <p:nvPr/>
            </p:nvSpPr>
            <p:spPr>
              <a:xfrm>
                <a:off x="789685" y="2944262"/>
                <a:ext cx="29021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增强提示字驱动的自定义教学资源生成框架</a:t>
                </a:r>
              </a:p>
            </p:txBody>
          </p:sp>
          <p:sp>
            <p:nvSpPr>
              <p:cNvPr id="268" name="圆角矩形 267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C7C1E267-18B6-A8E0-A52B-4412069EB24A}"/>
                  </a:ext>
                </a:extLst>
              </p:cNvPr>
              <p:cNvSpPr/>
              <p:nvPr/>
            </p:nvSpPr>
            <p:spPr>
              <a:xfrm>
                <a:off x="1068172" y="4044491"/>
                <a:ext cx="2299161" cy="256649"/>
              </a:xfrm>
              <a:prstGeom prst="roundRect">
                <a:avLst>
                  <a:gd name="adj" fmla="val 50000"/>
                </a:avLst>
              </a:prstGeom>
              <a:solidFill>
                <a:srgbClr val="75BD42">
                  <a:lumMod val="20000"/>
                  <a:lumOff val="80000"/>
                </a:srgbClr>
              </a:solidFill>
              <a:ln w="12700" cap="flat" cmpd="sng" algn="ctr">
                <a:solidFill>
                  <a:srgbClr val="4874CB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两轮</a:t>
                </a:r>
                <a:r>
                  <a:rPr kumimoji="0" lang="en-US" altLang="zh-CN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LLM</a:t>
                </a:r>
                <a:r>
                  <a:rPr kumimoji="0" lang="zh-CN" alt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生成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9" name="圆角矩形 268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C7C1E267-18B6-A8E0-A52B-4412069EB24A}"/>
                  </a:ext>
                </a:extLst>
              </p:cNvPr>
              <p:cNvSpPr/>
              <p:nvPr/>
            </p:nvSpPr>
            <p:spPr>
              <a:xfrm>
                <a:off x="1069045" y="4384979"/>
                <a:ext cx="2298288" cy="256649"/>
              </a:xfrm>
              <a:prstGeom prst="roundRect">
                <a:avLst>
                  <a:gd name="adj" fmla="val 50000"/>
                </a:avLst>
              </a:prstGeom>
              <a:solidFill>
                <a:srgbClr val="75BD42">
                  <a:lumMod val="20000"/>
                  <a:lumOff val="80000"/>
                </a:srgbClr>
              </a:solidFill>
              <a:ln w="12700" cap="flat" cmpd="sng" algn="ctr">
                <a:solidFill>
                  <a:srgbClr val="4874CB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草稿修正与终稿审查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0" name="圆角矩形 269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C7C1E267-18B6-A8E0-A52B-4412069EB24A}"/>
                  </a:ext>
                </a:extLst>
              </p:cNvPr>
              <p:cNvSpPr/>
              <p:nvPr/>
            </p:nvSpPr>
            <p:spPr>
              <a:xfrm>
                <a:off x="1069045" y="4717847"/>
                <a:ext cx="2298288" cy="256649"/>
              </a:xfrm>
              <a:prstGeom prst="roundRect">
                <a:avLst>
                  <a:gd name="adj" fmla="val 50000"/>
                </a:avLst>
              </a:prstGeom>
              <a:solidFill>
                <a:srgbClr val="75BD42">
                  <a:lumMod val="20000"/>
                  <a:lumOff val="80000"/>
                </a:srgbClr>
              </a:solidFill>
              <a:ln w="12700" cap="flat" cmpd="sng" algn="ctr">
                <a:solidFill>
                  <a:srgbClr val="4874CB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知识库提示词增强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1264866" y="3626221"/>
                <a:ext cx="20313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教学资源生成流程</a:t>
                </a:r>
              </a:p>
            </p:txBody>
          </p:sp>
          <p:sp>
            <p:nvSpPr>
              <p:cNvPr id="272" name="右箭头 271">
                <a:extLst>
                  <a:ext uri="{FF2B5EF4-FFF2-40B4-BE49-F238E27FC236}">
                    <a16:creationId xmlns:lc="http://schemas.openxmlformats.org/drawingml/2006/lockedCanvas" xmlns:a16="http://schemas.microsoft.com/office/drawing/2014/main" xmlns="" id="{89BC9458-7CC0-A703-C496-0C5F378F8E9C}"/>
                  </a:ext>
                </a:extLst>
              </p:cNvPr>
              <p:cNvSpPr/>
              <p:nvPr/>
            </p:nvSpPr>
            <p:spPr>
              <a:xfrm rot="10800000">
                <a:off x="3435879" y="4082108"/>
                <a:ext cx="442562" cy="207784"/>
              </a:xfrm>
              <a:prstGeom prst="rightArrow">
                <a:avLst/>
              </a:prstGeom>
              <a:solidFill>
                <a:sysClr val="window" lastClr="FFFFFF">
                  <a:lumMod val="65000"/>
                </a:sys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苹方-简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265430" y="199390"/>
            <a:ext cx="42557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4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软件测试</a:t>
            </a:r>
            <a:endParaRPr lang="zh-CN" altLang="en-US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graphicFrame>
        <p:nvGraphicFramePr>
          <p:cNvPr id="10" name="图表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7502870"/>
              </p:ext>
            </p:extLst>
          </p:nvPr>
        </p:nvGraphicFramePr>
        <p:xfrm>
          <a:off x="5743575" y="966979"/>
          <a:ext cx="6010275" cy="3166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图表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1955594"/>
              </p:ext>
            </p:extLst>
          </p:nvPr>
        </p:nvGraphicFramePr>
        <p:xfrm>
          <a:off x="265429" y="891158"/>
          <a:ext cx="5459095" cy="3061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图表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16841"/>
              </p:ext>
            </p:extLst>
          </p:nvPr>
        </p:nvGraphicFramePr>
        <p:xfrm>
          <a:off x="461639" y="3943350"/>
          <a:ext cx="4786636" cy="2626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971140"/>
              </p:ext>
            </p:extLst>
          </p:nvPr>
        </p:nvGraphicFramePr>
        <p:xfrm>
          <a:off x="6249880" y="4119241"/>
          <a:ext cx="5087184" cy="2388087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503849"/>
                <a:gridCol w="1039609"/>
                <a:gridCol w="1505309"/>
                <a:gridCol w="1038417"/>
              </a:tblGrid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测试内容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测试类型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测试内容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测试类型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教学日历预处理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单元测试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更新最终教学材料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构建教学大纲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单元测试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发布教学材料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构建教学大纲草稿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单元测试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知识库检索调用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更新教学大纲草稿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知识文件解析全流程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集成测试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更新教学大纲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教学大纲构建模块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功能测试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生成教学材料草稿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教学资源创作模块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功能测试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更新教学材料草稿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105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学生问答模块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功能测试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65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生成最终教学材料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单元测试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05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05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705" y="944026"/>
            <a:ext cx="2790853" cy="1925555"/>
          </a:xfrm>
          <a:prstGeom prst="rect">
            <a:avLst/>
          </a:prstGeom>
          <a:ln w="28575">
            <a:solidFill>
              <a:schemeClr val="accent5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5" name="文本框 34"/>
          <p:cNvSpPr txBox="1"/>
          <p:nvPr/>
        </p:nvSpPr>
        <p:spPr>
          <a:xfrm>
            <a:off x="343068" y="151130"/>
            <a:ext cx="42557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5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系统界面展示</a:t>
            </a:r>
            <a:endParaRPr lang="zh-CN" altLang="en-US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714" y="2486189"/>
            <a:ext cx="5633342" cy="3575176"/>
          </a:xfrm>
          <a:prstGeom prst="rect">
            <a:avLst/>
          </a:prstGeom>
          <a:ln w="28575">
            <a:solidFill>
              <a:schemeClr val="accent5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009" y="1417257"/>
            <a:ext cx="6006315" cy="4644108"/>
          </a:xfrm>
          <a:prstGeom prst="rect">
            <a:avLst/>
          </a:prstGeom>
          <a:ln w="28575">
            <a:solidFill>
              <a:schemeClr val="accent5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/>
          <p:cNvSpPr txBox="1"/>
          <p:nvPr/>
        </p:nvSpPr>
        <p:spPr>
          <a:xfrm>
            <a:off x="1398798" y="6018274"/>
            <a:ext cx="322517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学生界面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13364" y="6062633"/>
            <a:ext cx="3225178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教师界面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7714" y="1258782"/>
            <a:ext cx="2851300" cy="1174541"/>
          </a:xfrm>
          <a:prstGeom prst="rect">
            <a:avLst/>
          </a:prstGeom>
          <a:ln w="28575">
            <a:solidFill>
              <a:schemeClr val="accent5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343068" y="151130"/>
            <a:ext cx="4255770" cy="615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/>
            <a:r>
              <a:rPr 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6</a:t>
            </a:r>
            <a:r>
              <a:rPr 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 </a:t>
            </a:r>
            <a:r>
              <a:rPr lang="zh-CN" altLang="en-US" sz="32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总结展望</a:t>
            </a:r>
            <a:endParaRPr lang="zh-CN" altLang="en-US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06344" y="1043276"/>
            <a:ext cx="1991251" cy="4378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sz="20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业务</a:t>
            </a:r>
            <a:r>
              <a:rPr lang="zh-CN" altLang="zh-CN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优化与增量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43674" y="2368642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上传学习记录文件的方式智能判断学习进度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19720" y="1814222"/>
            <a:ext cx="1338828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 smtClean="0"/>
              <a:t>学生端优化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284399" y="2368642"/>
            <a:ext cx="2659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PPT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智能制作的功能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477035" y="1815292"/>
            <a:ext cx="1569660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 smtClean="0"/>
              <a:t>教师端端优化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235388" y="3472085"/>
            <a:ext cx="1733167" cy="4770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lvl="0" algn="just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非功能性迭代</a:t>
            </a:r>
            <a:endParaRPr lang="zh-CN" altLang="zh-CN" sz="20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18317" y="4264854"/>
            <a:ext cx="1579278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zh-CN" dirty="0"/>
              <a:t>提升图谱规模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477035" y="4264854"/>
            <a:ext cx="1811714" cy="36933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zh-CN" dirty="0"/>
              <a:t>实现模型本地化</a:t>
            </a:r>
          </a:p>
        </p:txBody>
      </p:sp>
      <p:sp>
        <p:nvSpPr>
          <p:cNvPr id="14" name="矩形 13"/>
          <p:cNvSpPr/>
          <p:nvPr/>
        </p:nvSpPr>
        <p:spPr>
          <a:xfrm>
            <a:off x="1106344" y="4794054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覆盖更多学科、更多学段的知识点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715055" y="4794054"/>
            <a:ext cx="5549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探索大模型本地化部署，结合教学场景进行模型微调</a:t>
            </a:r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8607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3205655" y="3684215"/>
            <a:ext cx="6022427" cy="0"/>
          </a:xfrm>
          <a:prstGeom prst="line">
            <a:avLst/>
          </a:prstGeom>
          <a:ln w="28575">
            <a:solidFill>
              <a:schemeClr val="accent2"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8598" b="5000"/>
          <a:stretch>
            <a:fillRect/>
          </a:stretch>
        </p:blipFill>
        <p:spPr>
          <a:xfrm>
            <a:off x="0" y="2204085"/>
            <a:ext cx="3907790" cy="4560570"/>
          </a:xfrm>
          <a:prstGeom prst="rect">
            <a:avLst/>
          </a:prstGeom>
        </p:spPr>
      </p:pic>
      <p:pic>
        <p:nvPicPr>
          <p:cNvPr id="3" name="图片 2" descr="图片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lum bright="-100000" contrast="100000"/>
          </a:blip>
          <a:stretch>
            <a:fillRect/>
          </a:stretch>
        </p:blipFill>
        <p:spPr>
          <a:xfrm>
            <a:off x="9491980" y="132715"/>
            <a:ext cx="2440305" cy="652780"/>
          </a:xfrm>
          <a:prstGeom prst="rect">
            <a:avLst/>
          </a:prstGeom>
        </p:spPr>
      </p:pic>
      <p:sp>
        <p:nvSpPr>
          <p:cNvPr id="23" name="TextBox 6"/>
          <p:cNvSpPr>
            <a:spLocks noChangeArrowheads="1"/>
          </p:cNvSpPr>
          <p:nvPr/>
        </p:nvSpPr>
        <p:spPr bwMode="auto">
          <a:xfrm>
            <a:off x="1826260" y="2160574"/>
            <a:ext cx="101060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zh-CN" altLang="en-US" sz="6000" b="1" spc="19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望</a:t>
            </a:r>
            <a:r>
              <a:rPr lang="zh-CN" altLang="en-US" sz="6000" b="1" spc="1900" dirty="0" smtClean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老师</a:t>
            </a:r>
            <a:r>
              <a:rPr lang="zh-CN" altLang="en-US" sz="6000" b="1" spc="19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批评指正！</a:t>
            </a:r>
          </a:p>
        </p:txBody>
      </p:sp>
      <p:sp>
        <p:nvSpPr>
          <p:cNvPr id="12" name="businessman_126354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6919979" y="4595472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</p:sp>
      <p:sp>
        <p:nvSpPr>
          <p:cNvPr id="13" name="user-avatar-profile_7003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689746" y="4615184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3102305" y="4592067"/>
            <a:ext cx="371457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pc="3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成员：卫煜文 廖宇轩 徐恒佳</a:t>
            </a:r>
            <a:endParaRPr lang="en-US" altLang="zh-CN" spc="3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7376163" y="4580344"/>
            <a:ext cx="3714570" cy="310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pc="3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学院</a:t>
            </a:r>
            <a:r>
              <a:rPr lang="zh-CN" altLang="en-US" spc="3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：</a:t>
            </a:r>
            <a:r>
              <a:rPr lang="zh-CN" altLang="en-US" spc="300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软件学院</a:t>
            </a:r>
            <a:endParaRPr lang="en-US" altLang="zh-CN" spc="300" dirty="0" err="1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d951f52-1fa1-44d7-8c34-0bfb71afe480"/>
  <p:tag name="COMMONDATA" val="eyJoZGlkIjoiOGI4NjI5OTBmMDM1ODFlMDkzNDFlZTFiMWNhZWU5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5"/>
  <p:tag name="KSO_WM_UNIT_FILL_FORE_SCHEMECOLOR_INDEX" val="10"/>
  <p:tag name="KSO_WM_UNI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5"/>
  <p:tag name="KSO_WM_UNIT_FILL_FORE_SCHEMECOLOR_INDEX" val="10"/>
  <p:tag name="KSO_WM_UNIT_FILL_TYPE" val="1"/>
  <p:tag name="KSO_WM_UNIT_TEXT_FILL_FORE_SCHEMECOLOR_INDEX_BRIGHTNESS" val="-0.5"/>
  <p:tag name="KSO_WM_UNIT_TEXT_FILL_FORE_SCHEMECOLOR_INDEX" val="9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-0.25"/>
  <p:tag name="KSO_WM_UNIT_LINE_FORE_SCHEMECOLOR_INDEX" val="5"/>
  <p:tag name="KSO_WM_UNIT_LINE_FILL_TYP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5"/>
  <p:tag name="KSO_WM_UNIT_FILL_FORE_SCHEMECOLOR_INDEX" val="10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8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8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5"/>
  <p:tag name="KSO_WM_UNIT_FILL_FORE_SCHEMECOLOR_INDEX" val="10"/>
  <p:tag name="KSO_WM_UNI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5"/>
  <p:tag name="KSO_WM_UNIT_FILL_FORE_SCHEMECOLOR_INDEX" val="10"/>
  <p:tag name="KSO_WM_UNIT_FILL_TYPE" val="1"/>
  <p:tag name="KSO_WM_UNIT_TEXT_FILL_FORE_SCHEMECOLOR_INDEX_BRIGHTNESS" val="-0.5"/>
  <p:tag name="KSO_WM_UNIT_TEXT_FILL_FORE_SCHEMECOLOR_INDEX" val="9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9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007ADD"/>
      </a:accent1>
      <a:accent2>
        <a:srgbClr val="3B3E4D"/>
      </a:accent2>
      <a:accent3>
        <a:srgbClr val="007ADD"/>
      </a:accent3>
      <a:accent4>
        <a:srgbClr val="3B3E4D"/>
      </a:accent4>
      <a:accent5>
        <a:srgbClr val="007ADD"/>
      </a:accent5>
      <a:accent6>
        <a:srgbClr val="3B3E4D"/>
      </a:accent6>
      <a:hlink>
        <a:srgbClr val="5FCBFB"/>
      </a:hlink>
      <a:folHlink>
        <a:srgbClr val="B759B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648</Words>
  <Application>Microsoft Office PowerPoint</Application>
  <PresentationFormat>宽屏</PresentationFormat>
  <Paragraphs>188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Source Han Serif SC</vt:lpstr>
      <vt:lpstr>等线</vt:lpstr>
      <vt:lpstr>等线 Light</vt:lpstr>
      <vt:lpstr>黑体</vt:lpstr>
      <vt:lpstr>楷体</vt:lpstr>
      <vt:lpstr>苹方-简</vt:lpstr>
      <vt:lpstr>思源黑体 CN Medium</vt:lpstr>
      <vt:lpstr>思源宋体 CN</vt:lpstr>
      <vt:lpstr>思源宋体 CN Heavy</vt:lpstr>
      <vt:lpstr>宋体</vt:lpstr>
      <vt:lpstr>微软雅黑</vt:lpstr>
      <vt:lpstr>微软雅黑 Light</vt:lpstr>
      <vt:lpstr>Arial</vt:lpstr>
      <vt:lpstr>Calibri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北交学术汇报模板</dc:title>
  <dc:creator>交交通通</dc:creator>
  <cp:lastModifiedBy>Chester Wei</cp:lastModifiedBy>
  <cp:revision>135</cp:revision>
  <dcterms:created xsi:type="dcterms:W3CDTF">2026-03-22T14:00:09Z</dcterms:created>
  <dcterms:modified xsi:type="dcterms:W3CDTF">2026-04-16T11:18:53Z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79DDE46D25E041C2AA71725671170014</vt:lpwstr>
  </property>
  <property fmtid="{D5CDD505-2E9C-101B-9397-08002B2CF9AE}" pid="3" name="KSOProductBuildVer">
    <vt:lpwstr>2052-12.1.24031.24031</vt:lpwstr>
  </property>
</Properties>
</file>